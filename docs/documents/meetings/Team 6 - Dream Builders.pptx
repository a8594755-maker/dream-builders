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Thin"/>
      <p:regular r:id="rId20"/>
      <p:bold r:id="rId21"/>
      <p:italic r:id="rId22"/>
      <p:boldItalic r:id="rId23"/>
    </p:embeddedFont>
    <p:embeddedFont>
      <p:font typeface="Roboto Medium"/>
      <p:regular r:id="rId24"/>
      <p:bold r:id="rId25"/>
      <p:italic r:id="rId26"/>
      <p:boldItalic r:id="rId27"/>
    </p:embeddedFont>
    <p:embeddedFont>
      <p:font typeface="Roboto"/>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Thin-regular.fntdata"/><Relationship Id="rId22" Type="http://schemas.openxmlformats.org/officeDocument/2006/relationships/font" Target="fonts/RobotoThin-italic.fntdata"/><Relationship Id="rId21" Type="http://schemas.openxmlformats.org/officeDocument/2006/relationships/font" Target="fonts/RobotoThin-bold.fntdata"/><Relationship Id="rId24" Type="http://schemas.openxmlformats.org/officeDocument/2006/relationships/font" Target="fonts/RobotoMedium-regular.fntdata"/><Relationship Id="rId23" Type="http://schemas.openxmlformats.org/officeDocument/2006/relationships/font" Target="fonts/RobotoThin-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italic.fntdata"/><Relationship Id="rId25" Type="http://schemas.openxmlformats.org/officeDocument/2006/relationships/font" Target="fonts/RobotoMedium-bold.fntdata"/><Relationship Id="rId28" Type="http://schemas.openxmlformats.org/officeDocument/2006/relationships/font" Target="fonts/Roboto-regular.fntdata"/><Relationship Id="rId27" Type="http://schemas.openxmlformats.org/officeDocument/2006/relationships/font" Target="fonts/Roboto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1735a4a80_1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d1735a4a80_1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g3d1735a4a80_1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3537094fc_2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3537094fc_2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2c2a36a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2c2a36a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1735a4a80_5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3d1735a4a80_5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1" name="Google Shape;131;g3d1735a4a80_5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1791f006b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d1791f006b_1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d1791f006b_1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357ad33cc_3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d357ad33cc_3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357ad33cc_3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3d357ad33cc_3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161c0f91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161c0f91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1720514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1720514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161c0f91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161c0f91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161c0f91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161c0f91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357ad33c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357ad33c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37dc7537a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d37dc7537a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161c0f91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d161c0f91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p14"/>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53" name="Google Shape;53;p14"/>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342900" lvl="0" marL="457200" algn="l">
              <a:lnSpc>
                <a:spcPct val="115000"/>
              </a:lnSpc>
              <a:spcBef>
                <a:spcPts val="360"/>
              </a:spcBef>
              <a:spcAft>
                <a:spcPts val="0"/>
              </a:spcAft>
              <a:buClr>
                <a:schemeClr val="dk1"/>
              </a:buClr>
              <a:buSzPts val="1800"/>
              <a:buChar char="●"/>
              <a:defRPr/>
            </a:lvl1pPr>
            <a:lvl2pPr indent="-342900" lvl="1" marL="914400" algn="l">
              <a:lnSpc>
                <a:spcPct val="115000"/>
              </a:lnSpc>
              <a:spcBef>
                <a:spcPts val="360"/>
              </a:spcBef>
              <a:spcAft>
                <a:spcPts val="0"/>
              </a:spcAft>
              <a:buClr>
                <a:schemeClr val="dk1"/>
              </a:buClr>
              <a:buSzPts val="1800"/>
              <a:buChar char="○"/>
              <a:defRPr/>
            </a:lvl2pPr>
            <a:lvl3pPr indent="-342900" lvl="2" marL="1371600" algn="l">
              <a:lnSpc>
                <a:spcPct val="115000"/>
              </a:lnSpc>
              <a:spcBef>
                <a:spcPts val="360"/>
              </a:spcBef>
              <a:spcAft>
                <a:spcPts val="0"/>
              </a:spcAft>
              <a:buClr>
                <a:schemeClr val="dk1"/>
              </a:buClr>
              <a:buSzPts val="1800"/>
              <a:buChar char="■"/>
              <a:defRPr/>
            </a:lvl3pPr>
            <a:lvl4pPr indent="-342900" lvl="3" marL="1828800" algn="l">
              <a:lnSpc>
                <a:spcPct val="115000"/>
              </a:lnSpc>
              <a:spcBef>
                <a:spcPts val="360"/>
              </a:spcBef>
              <a:spcAft>
                <a:spcPts val="0"/>
              </a:spcAft>
              <a:buClr>
                <a:schemeClr val="dk1"/>
              </a:buClr>
              <a:buSzPts val="1800"/>
              <a:buChar char="●"/>
              <a:defRPr/>
            </a:lvl4pPr>
            <a:lvl5pPr indent="-342900" lvl="4" marL="2286000" algn="l">
              <a:lnSpc>
                <a:spcPct val="115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1200"/>
              </a:spcAft>
              <a:buClr>
                <a:schemeClr val="dk1"/>
              </a:buClr>
              <a:buSzPts val="1800"/>
              <a:buChar char="■"/>
              <a:defRPr/>
            </a:lvl9pPr>
          </a:lstStyle>
          <a:p/>
        </p:txBody>
      </p:sp>
      <p:sp>
        <p:nvSpPr>
          <p:cNvPr id="54" name="Google Shape;54;p14"/>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14"/>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4"/>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6.jpg"/><Relationship Id="rId6" Type="http://schemas.openxmlformats.org/officeDocument/2006/relationships/image" Target="../media/image2.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cxnSp>
        <p:nvCxnSpPr>
          <p:cNvPr id="62" name="Google Shape;62;p15"/>
          <p:cNvCxnSpPr/>
          <p:nvPr/>
        </p:nvCxnSpPr>
        <p:spPr>
          <a:xfrm>
            <a:off x="896112" y="4078224"/>
            <a:ext cx="7351776" cy="0"/>
          </a:xfrm>
          <a:prstGeom prst="straightConnector1">
            <a:avLst/>
          </a:prstGeom>
          <a:noFill/>
          <a:ln cap="flat" cmpd="sng" w="12700">
            <a:solidFill>
              <a:srgbClr val="4B79C9"/>
            </a:solidFill>
            <a:prstDash val="solid"/>
            <a:round/>
            <a:headEnd len="sm" w="sm" type="none"/>
            <a:tailEnd len="sm" w="sm" type="none"/>
          </a:ln>
        </p:spPr>
      </p:cxnSp>
      <p:sp>
        <p:nvSpPr>
          <p:cNvPr id="63" name="Google Shape;63;p15"/>
          <p:cNvSpPr/>
          <p:nvPr/>
        </p:nvSpPr>
        <p:spPr>
          <a:xfrm>
            <a:off x="987615" y="2578471"/>
            <a:ext cx="7132200" cy="53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2600"/>
              <a:buFont typeface="Arial"/>
              <a:buNone/>
            </a:pPr>
            <a:r>
              <a:rPr b="0" i="0" lang="en" sz="3500" u="none" cap="none" strike="noStrike">
                <a:solidFill>
                  <a:srgbClr val="111111"/>
                </a:solidFill>
                <a:latin typeface="Arial"/>
                <a:ea typeface="Arial"/>
                <a:cs typeface="Arial"/>
                <a:sym typeface="Arial"/>
              </a:rPr>
              <a:t>Progress Report II</a:t>
            </a:r>
            <a:endParaRPr b="0" i="0" sz="3500" u="none" cap="none" strike="noStrike">
              <a:solidFill>
                <a:schemeClr val="dk1"/>
              </a:solidFill>
              <a:latin typeface="Arial"/>
              <a:ea typeface="Arial"/>
              <a:cs typeface="Arial"/>
              <a:sym typeface="Arial"/>
            </a:endParaRPr>
          </a:p>
        </p:txBody>
      </p:sp>
      <p:sp>
        <p:nvSpPr>
          <p:cNvPr id="64" name="Google Shape;64;p15"/>
          <p:cNvSpPr/>
          <p:nvPr/>
        </p:nvSpPr>
        <p:spPr>
          <a:xfrm>
            <a:off x="1685222" y="3255127"/>
            <a:ext cx="56694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781"/>
              </a:buClr>
              <a:buSzPts val="1400"/>
              <a:buFont typeface="Arial"/>
              <a:buNone/>
            </a:pPr>
            <a:r>
              <a:rPr b="0" i="0" lang="en" sz="2300" u="none" cap="none" strike="noStrike">
                <a:solidFill>
                  <a:schemeClr val="dk1"/>
                </a:solidFill>
                <a:latin typeface="Arial"/>
                <a:ea typeface="Arial"/>
                <a:cs typeface="Arial"/>
                <a:sym typeface="Arial"/>
              </a:rPr>
              <a:t>Team 6 • Dream Builders</a:t>
            </a:r>
            <a:endParaRPr b="0" i="0" sz="2300" u="none" cap="none" strike="noStrike">
              <a:solidFill>
                <a:schemeClr val="dk1"/>
              </a:solidFill>
              <a:latin typeface="Arial"/>
              <a:ea typeface="Arial"/>
              <a:cs typeface="Arial"/>
              <a:sym typeface="Arial"/>
            </a:endParaRPr>
          </a:p>
        </p:txBody>
      </p:sp>
      <p:sp>
        <p:nvSpPr>
          <p:cNvPr id="65" name="Google Shape;65;p15"/>
          <p:cNvSpPr/>
          <p:nvPr/>
        </p:nvSpPr>
        <p:spPr>
          <a:xfrm>
            <a:off x="1520631" y="3657460"/>
            <a:ext cx="59985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8895"/>
              </a:buClr>
              <a:buSzPts val="1150"/>
              <a:buFont typeface="Arial"/>
              <a:buNone/>
            </a:pPr>
            <a:r>
              <a:rPr b="0" i="0" lang="en" sz="2050" u="none" cap="none" strike="noStrike">
                <a:solidFill>
                  <a:schemeClr val="dk1"/>
                </a:solidFill>
                <a:latin typeface="Arial"/>
                <a:ea typeface="Arial"/>
                <a:cs typeface="Arial"/>
                <a:sym typeface="Arial"/>
              </a:rPr>
              <a:t>Sleep in Heavenly Peace (New River Valley)</a:t>
            </a:r>
            <a:endParaRPr b="0" i="0" sz="2050" u="none" cap="none" strike="noStrike">
              <a:solidFill>
                <a:schemeClr val="dk1"/>
              </a:solidFill>
              <a:latin typeface="Arial"/>
              <a:ea typeface="Arial"/>
              <a:cs typeface="Arial"/>
              <a:sym typeface="Arial"/>
            </a:endParaRPr>
          </a:p>
        </p:txBody>
      </p:sp>
      <p:sp>
        <p:nvSpPr>
          <p:cNvPr id="66" name="Google Shape;66;p15"/>
          <p:cNvSpPr/>
          <p:nvPr/>
        </p:nvSpPr>
        <p:spPr>
          <a:xfrm>
            <a:off x="2852928" y="4279392"/>
            <a:ext cx="343814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93A3"/>
              </a:buClr>
              <a:buSzPts val="860"/>
              <a:buFont typeface="Arial"/>
              <a:buNone/>
            </a:pPr>
            <a:r>
              <a:rPr b="0" i="0" lang="en" sz="860" u="none" cap="none" strike="noStrike">
                <a:solidFill>
                  <a:srgbClr val="8893A3"/>
                </a:solidFill>
                <a:latin typeface="Arial"/>
                <a:ea typeface="Arial"/>
                <a:cs typeface="Arial"/>
                <a:sym typeface="Arial"/>
              </a:rPr>
              <a:t>Current materials through Mar </a:t>
            </a:r>
            <a:r>
              <a:rPr lang="en" sz="860">
                <a:solidFill>
                  <a:srgbClr val="8893A3"/>
                </a:solidFill>
              </a:rPr>
              <a:t>31</a:t>
            </a:r>
            <a:r>
              <a:rPr b="0" i="0" lang="en" sz="860" u="none" cap="none" strike="noStrike">
                <a:solidFill>
                  <a:srgbClr val="8893A3"/>
                </a:solidFill>
                <a:latin typeface="Arial"/>
                <a:ea typeface="Arial"/>
                <a:cs typeface="Arial"/>
                <a:sym typeface="Arial"/>
              </a:rPr>
              <a:t>, 2026</a:t>
            </a:r>
            <a:endParaRPr b="0" i="0" sz="860" u="none" cap="none" strike="noStrike">
              <a:solidFill>
                <a:schemeClr val="dk1"/>
              </a:solidFill>
              <a:latin typeface="Arial"/>
              <a:ea typeface="Arial"/>
              <a:cs typeface="Arial"/>
              <a:sym typeface="Arial"/>
            </a:endParaRPr>
          </a:p>
        </p:txBody>
      </p:sp>
      <p:sp>
        <p:nvSpPr>
          <p:cNvPr id="67" name="Google Shape;67;p15"/>
          <p:cNvSpPr/>
          <p:nvPr/>
        </p:nvSpPr>
        <p:spPr>
          <a:xfrm>
            <a:off x="94802" y="4753661"/>
            <a:ext cx="8046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93A3"/>
              </a:buClr>
              <a:buSzPts val="850"/>
              <a:buFont typeface="Arial"/>
              <a:buNone/>
            </a:pPr>
            <a:r>
              <a:rPr b="0" i="0" lang="en" sz="850" u="none" cap="none" strike="noStrike">
                <a:solidFill>
                  <a:srgbClr val="8893A3"/>
                </a:solidFill>
                <a:latin typeface="Arial"/>
                <a:ea typeface="Arial"/>
                <a:cs typeface="Arial"/>
                <a:sym typeface="Arial"/>
              </a:rPr>
              <a:t>Dream Builders • Sleep in Heavenly Peace (NRV)</a:t>
            </a:r>
            <a:endParaRPr b="0" i="0" sz="850" u="none" cap="none" strike="noStrike">
              <a:solidFill>
                <a:schemeClr val="dk1"/>
              </a:solidFill>
              <a:latin typeface="Arial"/>
              <a:ea typeface="Arial"/>
              <a:cs typeface="Arial"/>
              <a:sym typeface="Arial"/>
            </a:endParaRPr>
          </a:p>
        </p:txBody>
      </p:sp>
      <p:pic>
        <p:nvPicPr>
          <p:cNvPr id="68" name="Google Shape;68;p15"/>
          <p:cNvPicPr preferRelativeResize="0"/>
          <p:nvPr/>
        </p:nvPicPr>
        <p:blipFill>
          <a:blip r:embed="rId3">
            <a:alphaModFix/>
          </a:blip>
          <a:stretch>
            <a:fillRect/>
          </a:stretch>
        </p:blipFill>
        <p:spPr>
          <a:xfrm>
            <a:off x="1502650" y="160197"/>
            <a:ext cx="6138675" cy="22720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Agenda</a:t>
            </a:r>
            <a:endParaRPr sz="2400">
              <a:solidFill>
                <a:schemeClr val="dk1"/>
              </a:solidFill>
              <a:latin typeface="Arial"/>
              <a:ea typeface="Arial"/>
              <a:cs typeface="Arial"/>
              <a:sym typeface="Arial"/>
            </a:endParaRPr>
          </a:p>
        </p:txBody>
      </p:sp>
      <p:cxnSp>
        <p:nvCxnSpPr>
          <p:cNvPr id="74" name="Google Shape;74;p16"/>
          <p:cNvCxnSpPr/>
          <p:nvPr/>
        </p:nvCxnSpPr>
        <p:spPr>
          <a:xfrm>
            <a:off x="311700" y="654275"/>
            <a:ext cx="8229600" cy="0"/>
          </a:xfrm>
          <a:prstGeom prst="straightConnector1">
            <a:avLst/>
          </a:prstGeom>
          <a:noFill/>
          <a:ln cap="flat" cmpd="sng" w="12700">
            <a:solidFill>
              <a:srgbClr val="4B79C9"/>
            </a:solidFill>
            <a:prstDash val="solid"/>
            <a:round/>
            <a:headEnd len="sm" w="sm" type="none"/>
            <a:tailEnd len="sm" w="sm" type="none"/>
          </a:ln>
        </p:spPr>
      </p:cxnSp>
      <p:grpSp>
        <p:nvGrpSpPr>
          <p:cNvPr id="75" name="Google Shape;75;p16"/>
          <p:cNvGrpSpPr/>
          <p:nvPr/>
        </p:nvGrpSpPr>
        <p:grpSpPr>
          <a:xfrm>
            <a:off x="760611" y="1265641"/>
            <a:ext cx="3242629" cy="2612210"/>
            <a:chOff x="1141950" y="1065923"/>
            <a:chExt cx="2939827" cy="2368277"/>
          </a:xfrm>
        </p:grpSpPr>
        <p:grpSp>
          <p:nvGrpSpPr>
            <p:cNvPr id="76" name="Google Shape;76;p16"/>
            <p:cNvGrpSpPr/>
            <p:nvPr/>
          </p:nvGrpSpPr>
          <p:grpSpPr>
            <a:xfrm>
              <a:off x="1141950" y="2790844"/>
              <a:ext cx="2939827" cy="643356"/>
              <a:chOff x="1593000" y="2322568"/>
              <a:chExt cx="2939827" cy="643356"/>
            </a:xfrm>
          </p:grpSpPr>
          <p:sp>
            <p:nvSpPr>
              <p:cNvPr id="77" name="Google Shape;77;p16"/>
              <p:cNvSpPr/>
              <p:nvPr/>
            </p:nvSpPr>
            <p:spPr>
              <a:xfrm flipH="1">
                <a:off x="2283025" y="2322575"/>
                <a:ext cx="1844400" cy="6426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78" name="Google Shape;78;p16"/>
              <p:cNvSpPr/>
              <p:nvPr/>
            </p:nvSpPr>
            <p:spPr>
              <a:xfrm rot="-5400000">
                <a:off x="3501574" y="1934671"/>
                <a:ext cx="643356" cy="1419149"/>
              </a:xfrm>
              <a:prstGeom prst="flowChartOffpageConnector">
                <a:avLst/>
              </a:prstGeom>
              <a:solidFill>
                <a:schemeClr val="accent1"/>
              </a:solidFill>
              <a:ln>
                <a:noFill/>
              </a:ln>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79" name="Google Shape;79;p16"/>
              <p:cNvSpPr/>
              <p:nvPr/>
            </p:nvSpPr>
            <p:spPr>
              <a:xfrm>
                <a:off x="2342625" y="2399951"/>
                <a:ext cx="1940700" cy="4959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l">
                  <a:lnSpc>
                    <a:spcPct val="115000"/>
                  </a:lnSpc>
                  <a:spcBef>
                    <a:spcPts val="0"/>
                  </a:spcBef>
                  <a:spcAft>
                    <a:spcPts val="0"/>
                  </a:spcAft>
                  <a:buNone/>
                </a:pPr>
                <a:r>
                  <a:rPr lang="en" sz="1103">
                    <a:solidFill>
                      <a:srgbClr val="FFFFFF"/>
                    </a:solidFill>
                    <a:latin typeface="Roboto Medium"/>
                    <a:ea typeface="Roboto Medium"/>
                    <a:cs typeface="Roboto Medium"/>
                    <a:sym typeface="Roboto Medium"/>
                  </a:rPr>
                  <a:t>Current Challenges</a:t>
                </a:r>
                <a:endParaRPr sz="1103">
                  <a:solidFill>
                    <a:srgbClr val="FFFFFF"/>
                  </a:solidFill>
                  <a:latin typeface="Roboto"/>
                  <a:ea typeface="Roboto"/>
                  <a:cs typeface="Roboto"/>
                  <a:sym typeface="Roboto"/>
                </a:endParaRPr>
              </a:p>
            </p:txBody>
          </p:sp>
          <p:sp>
            <p:nvSpPr>
              <p:cNvPr id="80" name="Google Shape;80;p16"/>
              <p:cNvSpPr/>
              <p:nvPr/>
            </p:nvSpPr>
            <p:spPr>
              <a:xfrm>
                <a:off x="1593000" y="2322568"/>
                <a:ext cx="690000" cy="642300"/>
              </a:xfrm>
              <a:prstGeom prst="rect">
                <a:avLst/>
              </a:prstGeom>
              <a:solidFill>
                <a:schemeClr val="accent1"/>
              </a:solidFill>
              <a:ln>
                <a:noFill/>
              </a:ln>
              <a:effectLst>
                <a:outerShdw blurRad="78795" rotWithShape="0" algn="bl" dir="2700000" dist="31518">
                  <a:srgbClr val="000000">
                    <a:alpha val="17000"/>
                  </a:srgbClr>
                </a:outerShdw>
              </a:effectLst>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81" name="Google Shape;81;p16"/>
              <p:cNvSpPr/>
              <p:nvPr/>
            </p:nvSpPr>
            <p:spPr>
              <a:xfrm>
                <a:off x="1593000" y="2322575"/>
                <a:ext cx="690000" cy="6426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ctr">
                  <a:spcBef>
                    <a:spcPts val="0"/>
                  </a:spcBef>
                  <a:spcAft>
                    <a:spcPts val="0"/>
                  </a:spcAft>
                  <a:buNone/>
                </a:pPr>
                <a:r>
                  <a:rPr lang="en" sz="2868">
                    <a:solidFill>
                      <a:srgbClr val="FFFFFF"/>
                    </a:solidFill>
                    <a:latin typeface="Roboto Thin"/>
                    <a:ea typeface="Roboto Thin"/>
                    <a:cs typeface="Roboto Thin"/>
                    <a:sym typeface="Roboto Thin"/>
                  </a:rPr>
                  <a:t>03</a:t>
                </a:r>
                <a:endParaRPr sz="2868">
                  <a:solidFill>
                    <a:srgbClr val="FFFFFF"/>
                  </a:solidFill>
                  <a:latin typeface="Roboto Thin"/>
                  <a:ea typeface="Roboto Thin"/>
                  <a:cs typeface="Roboto Thin"/>
                  <a:sym typeface="Roboto Thin"/>
                </a:endParaRPr>
              </a:p>
            </p:txBody>
          </p:sp>
        </p:grpSp>
        <p:grpSp>
          <p:nvGrpSpPr>
            <p:cNvPr id="82" name="Google Shape;82;p16"/>
            <p:cNvGrpSpPr/>
            <p:nvPr/>
          </p:nvGrpSpPr>
          <p:grpSpPr>
            <a:xfrm>
              <a:off x="1141950" y="1928385"/>
              <a:ext cx="2939827" cy="643356"/>
              <a:chOff x="1593000" y="2322568"/>
              <a:chExt cx="2939827" cy="643356"/>
            </a:xfrm>
          </p:grpSpPr>
          <p:sp>
            <p:nvSpPr>
              <p:cNvPr id="83" name="Google Shape;83;p16"/>
              <p:cNvSpPr/>
              <p:nvPr/>
            </p:nvSpPr>
            <p:spPr>
              <a:xfrm flipH="1">
                <a:off x="2283025" y="2322575"/>
                <a:ext cx="1844400" cy="6426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84" name="Google Shape;84;p16"/>
              <p:cNvSpPr/>
              <p:nvPr/>
            </p:nvSpPr>
            <p:spPr>
              <a:xfrm rot="-5400000">
                <a:off x="3501574" y="1934671"/>
                <a:ext cx="643356" cy="1419149"/>
              </a:xfrm>
              <a:prstGeom prst="flowChartOffpageConnector">
                <a:avLst/>
              </a:prstGeom>
              <a:solidFill>
                <a:schemeClr val="accent1"/>
              </a:solidFill>
              <a:ln>
                <a:noFill/>
              </a:ln>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85" name="Google Shape;85;p16"/>
              <p:cNvSpPr/>
              <p:nvPr/>
            </p:nvSpPr>
            <p:spPr>
              <a:xfrm>
                <a:off x="2342625" y="2399951"/>
                <a:ext cx="1940700" cy="4959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l">
                  <a:lnSpc>
                    <a:spcPct val="115000"/>
                  </a:lnSpc>
                  <a:spcBef>
                    <a:spcPts val="0"/>
                  </a:spcBef>
                  <a:spcAft>
                    <a:spcPts val="0"/>
                  </a:spcAft>
                  <a:buNone/>
                </a:pPr>
                <a:r>
                  <a:rPr lang="en" sz="1103">
                    <a:solidFill>
                      <a:srgbClr val="FFFFFF"/>
                    </a:solidFill>
                    <a:latin typeface="Roboto Medium"/>
                    <a:ea typeface="Roboto Medium"/>
                    <a:cs typeface="Roboto Medium"/>
                    <a:sym typeface="Roboto Medium"/>
                  </a:rPr>
                  <a:t>Current Goals / Progress</a:t>
                </a:r>
                <a:endParaRPr sz="1103">
                  <a:solidFill>
                    <a:srgbClr val="FFFFFF"/>
                  </a:solidFill>
                  <a:latin typeface="Roboto"/>
                  <a:ea typeface="Roboto"/>
                  <a:cs typeface="Roboto"/>
                  <a:sym typeface="Roboto"/>
                </a:endParaRPr>
              </a:p>
            </p:txBody>
          </p:sp>
          <p:sp>
            <p:nvSpPr>
              <p:cNvPr id="86" name="Google Shape;86;p16"/>
              <p:cNvSpPr/>
              <p:nvPr/>
            </p:nvSpPr>
            <p:spPr>
              <a:xfrm>
                <a:off x="1593000" y="2322568"/>
                <a:ext cx="690000" cy="642300"/>
              </a:xfrm>
              <a:prstGeom prst="rect">
                <a:avLst/>
              </a:prstGeom>
              <a:solidFill>
                <a:schemeClr val="accent1"/>
              </a:solidFill>
              <a:ln>
                <a:noFill/>
              </a:ln>
              <a:effectLst>
                <a:outerShdw blurRad="78795" rotWithShape="0" algn="bl" dir="2700000" dist="31518">
                  <a:srgbClr val="000000">
                    <a:alpha val="17000"/>
                  </a:srgbClr>
                </a:outerShdw>
              </a:effectLst>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87" name="Google Shape;87;p16"/>
              <p:cNvSpPr/>
              <p:nvPr/>
            </p:nvSpPr>
            <p:spPr>
              <a:xfrm>
                <a:off x="1593000" y="2322575"/>
                <a:ext cx="690000" cy="6426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ctr">
                  <a:spcBef>
                    <a:spcPts val="0"/>
                  </a:spcBef>
                  <a:spcAft>
                    <a:spcPts val="0"/>
                  </a:spcAft>
                  <a:buNone/>
                </a:pPr>
                <a:r>
                  <a:rPr lang="en" sz="2868">
                    <a:solidFill>
                      <a:srgbClr val="FFFFFF"/>
                    </a:solidFill>
                    <a:latin typeface="Roboto Thin"/>
                    <a:ea typeface="Roboto Thin"/>
                    <a:cs typeface="Roboto Thin"/>
                    <a:sym typeface="Roboto Thin"/>
                  </a:rPr>
                  <a:t>02</a:t>
                </a:r>
                <a:endParaRPr sz="2868">
                  <a:solidFill>
                    <a:srgbClr val="FFFFFF"/>
                  </a:solidFill>
                  <a:latin typeface="Roboto Thin"/>
                  <a:ea typeface="Roboto Thin"/>
                  <a:cs typeface="Roboto Thin"/>
                  <a:sym typeface="Roboto Thin"/>
                </a:endParaRPr>
              </a:p>
            </p:txBody>
          </p:sp>
        </p:grpSp>
        <p:grpSp>
          <p:nvGrpSpPr>
            <p:cNvPr id="88" name="Google Shape;88;p16"/>
            <p:cNvGrpSpPr/>
            <p:nvPr/>
          </p:nvGrpSpPr>
          <p:grpSpPr>
            <a:xfrm>
              <a:off x="1141950" y="1065923"/>
              <a:ext cx="2939827" cy="643356"/>
              <a:chOff x="1593000" y="2322568"/>
              <a:chExt cx="2939827" cy="643356"/>
            </a:xfrm>
          </p:grpSpPr>
          <p:sp>
            <p:nvSpPr>
              <p:cNvPr id="89" name="Google Shape;89;p16"/>
              <p:cNvSpPr/>
              <p:nvPr/>
            </p:nvSpPr>
            <p:spPr>
              <a:xfrm flipH="1">
                <a:off x="2283025" y="2322575"/>
                <a:ext cx="1844400" cy="6426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90" name="Google Shape;90;p16"/>
              <p:cNvSpPr/>
              <p:nvPr/>
            </p:nvSpPr>
            <p:spPr>
              <a:xfrm rot="-5400000">
                <a:off x="3501574" y="1934671"/>
                <a:ext cx="643356" cy="1419149"/>
              </a:xfrm>
              <a:prstGeom prst="flowChartOffpageConnector">
                <a:avLst/>
              </a:prstGeom>
              <a:solidFill>
                <a:schemeClr val="accent1"/>
              </a:solidFill>
              <a:ln>
                <a:noFill/>
              </a:ln>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91" name="Google Shape;91;p16"/>
              <p:cNvSpPr/>
              <p:nvPr/>
            </p:nvSpPr>
            <p:spPr>
              <a:xfrm>
                <a:off x="2342625" y="2399951"/>
                <a:ext cx="1940700" cy="4959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l">
                  <a:lnSpc>
                    <a:spcPct val="115000"/>
                  </a:lnSpc>
                  <a:spcBef>
                    <a:spcPts val="0"/>
                  </a:spcBef>
                  <a:spcAft>
                    <a:spcPts val="0"/>
                  </a:spcAft>
                  <a:buNone/>
                </a:pPr>
                <a:r>
                  <a:rPr lang="en" sz="1103">
                    <a:solidFill>
                      <a:srgbClr val="FFFFFF"/>
                    </a:solidFill>
                    <a:latin typeface="Roboto Medium"/>
                    <a:ea typeface="Roboto Medium"/>
                    <a:cs typeface="Roboto Medium"/>
                    <a:sym typeface="Roboto Medium"/>
                  </a:rPr>
                  <a:t>Our Team</a:t>
                </a:r>
                <a:endParaRPr sz="1103">
                  <a:solidFill>
                    <a:srgbClr val="FFFFFF"/>
                  </a:solidFill>
                  <a:latin typeface="Roboto"/>
                  <a:ea typeface="Roboto"/>
                  <a:cs typeface="Roboto"/>
                  <a:sym typeface="Roboto"/>
                </a:endParaRPr>
              </a:p>
            </p:txBody>
          </p:sp>
          <p:sp>
            <p:nvSpPr>
              <p:cNvPr id="92" name="Google Shape;92;p16"/>
              <p:cNvSpPr/>
              <p:nvPr/>
            </p:nvSpPr>
            <p:spPr>
              <a:xfrm>
                <a:off x="1593000" y="2322568"/>
                <a:ext cx="690000" cy="642300"/>
              </a:xfrm>
              <a:prstGeom prst="rect">
                <a:avLst/>
              </a:prstGeom>
              <a:solidFill>
                <a:schemeClr val="accent1"/>
              </a:solidFill>
              <a:ln>
                <a:noFill/>
              </a:ln>
              <a:effectLst>
                <a:outerShdw blurRad="78795" rotWithShape="0" algn="bl" dir="2700000" dist="31518">
                  <a:srgbClr val="000000">
                    <a:alpha val="17000"/>
                  </a:srgbClr>
                </a:outerShdw>
              </a:effectLst>
            </p:spPr>
            <p:txBody>
              <a:bodyPr anchorCtr="0" anchor="ctr" bIns="100850" lIns="100850" spcFirstLastPara="1" rIns="100850" wrap="square" tIns="100850">
                <a:noAutofit/>
              </a:bodyPr>
              <a:lstStyle/>
              <a:p>
                <a:pPr indent="0" lvl="0" marL="0" rtl="0" algn="l">
                  <a:spcBef>
                    <a:spcPts val="0"/>
                  </a:spcBef>
                  <a:spcAft>
                    <a:spcPts val="0"/>
                  </a:spcAft>
                  <a:buNone/>
                </a:pPr>
                <a:r>
                  <a:t/>
                </a:r>
                <a:endParaRPr/>
              </a:p>
            </p:txBody>
          </p:sp>
          <p:sp>
            <p:nvSpPr>
              <p:cNvPr id="93" name="Google Shape;93;p16"/>
              <p:cNvSpPr/>
              <p:nvPr/>
            </p:nvSpPr>
            <p:spPr>
              <a:xfrm>
                <a:off x="1593000" y="2322575"/>
                <a:ext cx="690000" cy="642600"/>
              </a:xfrm>
              <a:prstGeom prst="rect">
                <a:avLst/>
              </a:prstGeom>
              <a:solidFill>
                <a:schemeClr val="accent1"/>
              </a:solidFill>
              <a:ln>
                <a:noFill/>
              </a:ln>
            </p:spPr>
            <p:txBody>
              <a:bodyPr anchorCtr="0" anchor="ctr" bIns="100850" lIns="100850" spcFirstLastPara="1" rIns="100850" wrap="square" tIns="100850">
                <a:noAutofit/>
              </a:bodyPr>
              <a:lstStyle/>
              <a:p>
                <a:pPr indent="0" lvl="0" marL="0" rtl="0" algn="ctr">
                  <a:spcBef>
                    <a:spcPts val="0"/>
                  </a:spcBef>
                  <a:spcAft>
                    <a:spcPts val="0"/>
                  </a:spcAft>
                  <a:buNone/>
                </a:pPr>
                <a:r>
                  <a:rPr lang="en" sz="2868">
                    <a:solidFill>
                      <a:srgbClr val="FFFFFF"/>
                    </a:solidFill>
                    <a:latin typeface="Roboto Thin"/>
                    <a:ea typeface="Roboto Thin"/>
                    <a:cs typeface="Roboto Thin"/>
                    <a:sym typeface="Roboto Thin"/>
                  </a:rPr>
                  <a:t>01</a:t>
                </a:r>
                <a:endParaRPr sz="2868">
                  <a:solidFill>
                    <a:srgbClr val="FFFFFF"/>
                  </a:solidFill>
                  <a:latin typeface="Roboto Thin"/>
                  <a:ea typeface="Roboto Thin"/>
                  <a:cs typeface="Roboto Thin"/>
                  <a:sym typeface="Roboto Thin"/>
                </a:endParaRPr>
              </a:p>
            </p:txBody>
          </p:sp>
        </p:grpSp>
      </p:grpSp>
      <p:grpSp>
        <p:nvGrpSpPr>
          <p:cNvPr id="94" name="Google Shape;94;p16"/>
          <p:cNvGrpSpPr/>
          <p:nvPr/>
        </p:nvGrpSpPr>
        <p:grpSpPr>
          <a:xfrm>
            <a:off x="5115638" y="2225178"/>
            <a:ext cx="3246157" cy="693125"/>
            <a:chOff x="1593000" y="2322568"/>
            <a:chExt cx="2939827" cy="646632"/>
          </a:xfrm>
        </p:grpSpPr>
        <p:sp>
          <p:nvSpPr>
            <p:cNvPr id="95" name="Google Shape;95;p16"/>
            <p:cNvSpPr/>
            <p:nvPr/>
          </p:nvSpPr>
          <p:spPr>
            <a:xfrm flipH="1">
              <a:off x="2283025" y="2322575"/>
              <a:ext cx="1844400" cy="6426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l">
                <a:spcBef>
                  <a:spcPts val="0"/>
                </a:spcBef>
                <a:spcAft>
                  <a:spcPts val="0"/>
                </a:spcAft>
                <a:buNone/>
              </a:pPr>
              <a:r>
                <a:t/>
              </a:r>
              <a:endParaRPr sz="1501"/>
            </a:p>
          </p:txBody>
        </p:sp>
        <p:sp>
          <p:nvSpPr>
            <p:cNvPr id="96" name="Google Shape;96;p16"/>
            <p:cNvSpPr/>
            <p:nvPr/>
          </p:nvSpPr>
          <p:spPr>
            <a:xfrm rot="-5400000">
              <a:off x="3501574" y="1934671"/>
              <a:ext cx="643356" cy="1419149"/>
            </a:xfrm>
            <a:prstGeom prst="flowChartOffpageConnector">
              <a:avLst/>
            </a:prstGeom>
            <a:solidFill>
              <a:schemeClr val="accent1"/>
            </a:solidFill>
            <a:ln>
              <a:noFill/>
            </a:ln>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97" name="Google Shape;97;p16"/>
            <p:cNvSpPr/>
            <p:nvPr/>
          </p:nvSpPr>
          <p:spPr>
            <a:xfrm>
              <a:off x="2342625" y="2399951"/>
              <a:ext cx="1940700" cy="4959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l">
                <a:lnSpc>
                  <a:spcPct val="115000"/>
                </a:lnSpc>
                <a:spcBef>
                  <a:spcPts val="0"/>
                </a:spcBef>
                <a:spcAft>
                  <a:spcPts val="0"/>
                </a:spcAft>
                <a:buNone/>
              </a:pPr>
              <a:r>
                <a:rPr lang="en" sz="1072">
                  <a:solidFill>
                    <a:srgbClr val="FFFFFF"/>
                  </a:solidFill>
                  <a:latin typeface="Roboto Medium"/>
                  <a:ea typeface="Roboto Medium"/>
                  <a:cs typeface="Roboto Medium"/>
                  <a:sym typeface="Roboto Medium"/>
                </a:rPr>
                <a:t>Next Steps</a:t>
              </a:r>
              <a:endParaRPr sz="1072">
                <a:solidFill>
                  <a:srgbClr val="FFFFFF"/>
                </a:solidFill>
                <a:latin typeface="Roboto"/>
                <a:ea typeface="Roboto"/>
                <a:cs typeface="Roboto"/>
                <a:sym typeface="Roboto"/>
              </a:endParaRPr>
            </a:p>
          </p:txBody>
        </p:sp>
        <p:sp>
          <p:nvSpPr>
            <p:cNvPr id="98" name="Google Shape;98;p16"/>
            <p:cNvSpPr/>
            <p:nvPr/>
          </p:nvSpPr>
          <p:spPr>
            <a:xfrm>
              <a:off x="1593000" y="2322568"/>
              <a:ext cx="690000" cy="642300"/>
            </a:xfrm>
            <a:prstGeom prst="rect">
              <a:avLst/>
            </a:prstGeom>
            <a:solidFill>
              <a:schemeClr val="accent1"/>
            </a:solidFill>
            <a:ln>
              <a:noFill/>
            </a:ln>
            <a:effectLst>
              <a:outerShdw blurRad="76569" rotWithShape="0" algn="bl" dir="2700000" dist="30628">
                <a:srgbClr val="000000">
                  <a:alpha val="17000"/>
                </a:srgbClr>
              </a:outerShdw>
            </a:effectLst>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99" name="Google Shape;99;p16"/>
            <p:cNvSpPr/>
            <p:nvPr/>
          </p:nvSpPr>
          <p:spPr>
            <a:xfrm>
              <a:off x="1593000" y="2326600"/>
              <a:ext cx="690000" cy="6426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ctr">
                <a:spcBef>
                  <a:spcPts val="0"/>
                </a:spcBef>
                <a:spcAft>
                  <a:spcPts val="0"/>
                </a:spcAft>
                <a:buNone/>
              </a:pPr>
              <a:r>
                <a:rPr lang="en" sz="2787">
                  <a:solidFill>
                    <a:srgbClr val="FFFFFF"/>
                  </a:solidFill>
                  <a:latin typeface="Roboto Thin"/>
                  <a:ea typeface="Roboto Thin"/>
                  <a:cs typeface="Roboto Thin"/>
                  <a:sym typeface="Roboto Thin"/>
                </a:rPr>
                <a:t>05</a:t>
              </a:r>
              <a:endParaRPr sz="2787">
                <a:solidFill>
                  <a:srgbClr val="FFFFFF"/>
                </a:solidFill>
                <a:latin typeface="Roboto Thin"/>
                <a:ea typeface="Roboto Thin"/>
                <a:cs typeface="Roboto Thin"/>
                <a:sym typeface="Roboto Thin"/>
              </a:endParaRPr>
            </a:p>
          </p:txBody>
        </p:sp>
      </p:grpSp>
      <p:grpSp>
        <p:nvGrpSpPr>
          <p:cNvPr id="100" name="Google Shape;100;p16"/>
          <p:cNvGrpSpPr/>
          <p:nvPr/>
        </p:nvGrpSpPr>
        <p:grpSpPr>
          <a:xfrm>
            <a:off x="5115638" y="1265649"/>
            <a:ext cx="3246157" cy="689613"/>
            <a:chOff x="1593000" y="2322568"/>
            <a:chExt cx="2939827" cy="643356"/>
          </a:xfrm>
        </p:grpSpPr>
        <p:sp>
          <p:nvSpPr>
            <p:cNvPr id="101" name="Google Shape;101;p16"/>
            <p:cNvSpPr/>
            <p:nvPr/>
          </p:nvSpPr>
          <p:spPr>
            <a:xfrm flipH="1">
              <a:off x="2283025" y="2322575"/>
              <a:ext cx="1844400" cy="6426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102" name="Google Shape;102;p16"/>
            <p:cNvSpPr/>
            <p:nvPr/>
          </p:nvSpPr>
          <p:spPr>
            <a:xfrm rot="-5400000">
              <a:off x="3501574" y="1934671"/>
              <a:ext cx="643356" cy="1419149"/>
            </a:xfrm>
            <a:prstGeom prst="flowChartOffpageConnector">
              <a:avLst/>
            </a:prstGeom>
            <a:solidFill>
              <a:schemeClr val="accent1"/>
            </a:solidFill>
            <a:ln>
              <a:noFill/>
            </a:ln>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103" name="Google Shape;103;p16"/>
            <p:cNvSpPr/>
            <p:nvPr/>
          </p:nvSpPr>
          <p:spPr>
            <a:xfrm>
              <a:off x="2342625" y="2399951"/>
              <a:ext cx="1940700" cy="4959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l">
                <a:lnSpc>
                  <a:spcPct val="115000"/>
                </a:lnSpc>
                <a:spcBef>
                  <a:spcPts val="0"/>
                </a:spcBef>
                <a:spcAft>
                  <a:spcPts val="0"/>
                </a:spcAft>
                <a:buNone/>
              </a:pPr>
              <a:r>
                <a:rPr lang="en" sz="1072">
                  <a:solidFill>
                    <a:srgbClr val="FFFFFF"/>
                  </a:solidFill>
                  <a:latin typeface="Roboto Medium"/>
                  <a:ea typeface="Roboto Medium"/>
                  <a:cs typeface="Roboto Medium"/>
                  <a:sym typeface="Roboto Medium"/>
                </a:rPr>
                <a:t>Project Documents</a:t>
              </a:r>
              <a:endParaRPr sz="1072">
                <a:solidFill>
                  <a:srgbClr val="FFFFFF"/>
                </a:solidFill>
                <a:latin typeface="Roboto"/>
                <a:ea typeface="Roboto"/>
                <a:cs typeface="Roboto"/>
                <a:sym typeface="Roboto"/>
              </a:endParaRPr>
            </a:p>
          </p:txBody>
        </p:sp>
        <p:sp>
          <p:nvSpPr>
            <p:cNvPr id="104" name="Google Shape;104;p16"/>
            <p:cNvSpPr/>
            <p:nvPr/>
          </p:nvSpPr>
          <p:spPr>
            <a:xfrm>
              <a:off x="1593000" y="2322568"/>
              <a:ext cx="690000" cy="642300"/>
            </a:xfrm>
            <a:prstGeom prst="rect">
              <a:avLst/>
            </a:prstGeom>
            <a:solidFill>
              <a:schemeClr val="accent1"/>
            </a:solidFill>
            <a:ln>
              <a:noFill/>
            </a:ln>
            <a:effectLst>
              <a:outerShdw blurRad="76569" rotWithShape="0" algn="bl" dir="2700000" dist="30628">
                <a:srgbClr val="000000">
                  <a:alpha val="17000"/>
                </a:srgbClr>
              </a:outerShdw>
            </a:effectLst>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105" name="Google Shape;105;p16"/>
            <p:cNvSpPr/>
            <p:nvPr/>
          </p:nvSpPr>
          <p:spPr>
            <a:xfrm>
              <a:off x="1593000" y="2322575"/>
              <a:ext cx="690000" cy="6426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ctr">
                <a:spcBef>
                  <a:spcPts val="0"/>
                </a:spcBef>
                <a:spcAft>
                  <a:spcPts val="0"/>
                </a:spcAft>
                <a:buNone/>
              </a:pPr>
              <a:r>
                <a:rPr lang="en" sz="2787">
                  <a:solidFill>
                    <a:srgbClr val="FFFFFF"/>
                  </a:solidFill>
                  <a:latin typeface="Roboto Thin"/>
                  <a:ea typeface="Roboto Thin"/>
                  <a:cs typeface="Roboto Thin"/>
                  <a:sym typeface="Roboto Thin"/>
                </a:rPr>
                <a:t>04</a:t>
              </a:r>
              <a:endParaRPr sz="2787">
                <a:solidFill>
                  <a:srgbClr val="FFFFFF"/>
                </a:solidFill>
                <a:latin typeface="Roboto Thin"/>
                <a:ea typeface="Roboto Thin"/>
                <a:cs typeface="Roboto Thin"/>
                <a:sym typeface="Roboto Thin"/>
              </a:endParaRPr>
            </a:p>
          </p:txBody>
        </p:sp>
      </p:grpSp>
      <p:grpSp>
        <p:nvGrpSpPr>
          <p:cNvPr id="106" name="Google Shape;106;p16"/>
          <p:cNvGrpSpPr/>
          <p:nvPr/>
        </p:nvGrpSpPr>
        <p:grpSpPr>
          <a:xfrm>
            <a:off x="5115638" y="3184726"/>
            <a:ext cx="3246157" cy="693125"/>
            <a:chOff x="1593000" y="2322568"/>
            <a:chExt cx="2939827" cy="646632"/>
          </a:xfrm>
        </p:grpSpPr>
        <p:sp>
          <p:nvSpPr>
            <p:cNvPr id="107" name="Google Shape;107;p16"/>
            <p:cNvSpPr/>
            <p:nvPr/>
          </p:nvSpPr>
          <p:spPr>
            <a:xfrm flipH="1">
              <a:off x="2283025" y="2322575"/>
              <a:ext cx="1844400" cy="6426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108" name="Google Shape;108;p16"/>
            <p:cNvSpPr/>
            <p:nvPr/>
          </p:nvSpPr>
          <p:spPr>
            <a:xfrm rot="-5400000">
              <a:off x="3501574" y="1934671"/>
              <a:ext cx="643356" cy="1419149"/>
            </a:xfrm>
            <a:prstGeom prst="flowChartOffpageConnector">
              <a:avLst/>
            </a:prstGeom>
            <a:solidFill>
              <a:schemeClr val="accent1"/>
            </a:solidFill>
            <a:ln>
              <a:noFill/>
            </a:ln>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109" name="Google Shape;109;p16"/>
            <p:cNvSpPr/>
            <p:nvPr/>
          </p:nvSpPr>
          <p:spPr>
            <a:xfrm>
              <a:off x="2342625" y="2399951"/>
              <a:ext cx="1940700" cy="4959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l">
                <a:lnSpc>
                  <a:spcPct val="115000"/>
                </a:lnSpc>
                <a:spcBef>
                  <a:spcPts val="0"/>
                </a:spcBef>
                <a:spcAft>
                  <a:spcPts val="0"/>
                </a:spcAft>
                <a:buNone/>
              </a:pPr>
              <a:r>
                <a:rPr lang="en" sz="1072">
                  <a:solidFill>
                    <a:srgbClr val="FFFFFF"/>
                  </a:solidFill>
                  <a:latin typeface="Roboto"/>
                  <a:ea typeface="Roboto"/>
                  <a:cs typeface="Roboto"/>
                  <a:sym typeface="Roboto"/>
                </a:rPr>
                <a:t>Q&amp;A</a:t>
              </a:r>
              <a:endParaRPr sz="1072">
                <a:solidFill>
                  <a:srgbClr val="FFFFFF"/>
                </a:solidFill>
                <a:latin typeface="Roboto"/>
                <a:ea typeface="Roboto"/>
                <a:cs typeface="Roboto"/>
                <a:sym typeface="Roboto"/>
              </a:endParaRPr>
            </a:p>
          </p:txBody>
        </p:sp>
        <p:sp>
          <p:nvSpPr>
            <p:cNvPr id="110" name="Google Shape;110;p16"/>
            <p:cNvSpPr/>
            <p:nvPr/>
          </p:nvSpPr>
          <p:spPr>
            <a:xfrm>
              <a:off x="1593000" y="2322568"/>
              <a:ext cx="690000" cy="642300"/>
            </a:xfrm>
            <a:prstGeom prst="rect">
              <a:avLst/>
            </a:prstGeom>
            <a:solidFill>
              <a:schemeClr val="accent1"/>
            </a:solidFill>
            <a:ln>
              <a:noFill/>
            </a:ln>
            <a:effectLst>
              <a:outerShdw blurRad="76569" rotWithShape="0" algn="bl" dir="2700000" dist="30628">
                <a:srgbClr val="000000">
                  <a:alpha val="17000"/>
                </a:srgbClr>
              </a:outerShdw>
            </a:effectLst>
          </p:spPr>
          <p:txBody>
            <a:bodyPr anchorCtr="0" anchor="ctr" bIns="98000" lIns="98000" spcFirstLastPara="1" rIns="98000" wrap="square" tIns="98000">
              <a:noAutofit/>
            </a:bodyPr>
            <a:lstStyle/>
            <a:p>
              <a:pPr indent="0" lvl="0" marL="0" rtl="0" algn="l">
                <a:spcBef>
                  <a:spcPts val="0"/>
                </a:spcBef>
                <a:spcAft>
                  <a:spcPts val="0"/>
                </a:spcAft>
                <a:buNone/>
              </a:pPr>
              <a:r>
                <a:t/>
              </a:r>
              <a:endParaRPr/>
            </a:p>
          </p:txBody>
        </p:sp>
        <p:sp>
          <p:nvSpPr>
            <p:cNvPr id="111" name="Google Shape;111;p16"/>
            <p:cNvSpPr/>
            <p:nvPr/>
          </p:nvSpPr>
          <p:spPr>
            <a:xfrm>
              <a:off x="1593000" y="2326600"/>
              <a:ext cx="690000" cy="642600"/>
            </a:xfrm>
            <a:prstGeom prst="rect">
              <a:avLst/>
            </a:prstGeom>
            <a:solidFill>
              <a:schemeClr val="accent1"/>
            </a:solidFill>
            <a:ln>
              <a:noFill/>
            </a:ln>
          </p:spPr>
          <p:txBody>
            <a:bodyPr anchorCtr="0" anchor="ctr" bIns="98000" lIns="98000" spcFirstLastPara="1" rIns="98000" wrap="square" tIns="98000">
              <a:noAutofit/>
            </a:bodyPr>
            <a:lstStyle/>
            <a:p>
              <a:pPr indent="0" lvl="0" marL="0" rtl="0" algn="ctr">
                <a:spcBef>
                  <a:spcPts val="0"/>
                </a:spcBef>
                <a:spcAft>
                  <a:spcPts val="0"/>
                </a:spcAft>
                <a:buNone/>
              </a:pPr>
              <a:r>
                <a:rPr lang="en" sz="2787">
                  <a:solidFill>
                    <a:srgbClr val="FFFFFF"/>
                  </a:solidFill>
                  <a:latin typeface="Roboto Thin"/>
                  <a:ea typeface="Roboto Thin"/>
                  <a:cs typeface="Roboto Thin"/>
                  <a:sym typeface="Roboto Thin"/>
                </a:rPr>
                <a:t>06</a:t>
              </a:r>
              <a:endParaRPr sz="2787">
                <a:solidFill>
                  <a:srgbClr val="FFFFFF"/>
                </a:solidFill>
                <a:latin typeface="Roboto Thin"/>
                <a:ea typeface="Roboto Thin"/>
                <a:cs typeface="Roboto Thin"/>
                <a:sym typeface="Roboto Thin"/>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nvSpPr>
        <p:spPr>
          <a:xfrm>
            <a:off x="691510" y="3370427"/>
            <a:ext cx="1600200" cy="311100"/>
          </a:xfrm>
          <a:prstGeom prst="rect">
            <a:avLst/>
          </a:prstGeom>
          <a:noFill/>
          <a:ln>
            <a:noFill/>
          </a:ln>
        </p:spPr>
        <p:txBody>
          <a:bodyPr anchorCtr="0" anchor="t" bIns="79775" lIns="79775" spcFirstLastPara="1" rIns="79775" wrap="square" tIns="79775">
            <a:noAutofit/>
          </a:bodyPr>
          <a:lstStyle/>
          <a:p>
            <a:pPr indent="0" lvl="0" marL="0" marR="0" rtl="0" algn="ctr">
              <a:spcBef>
                <a:spcPts val="0"/>
              </a:spcBef>
              <a:spcAft>
                <a:spcPts val="0"/>
              </a:spcAft>
              <a:buClr>
                <a:srgbClr val="000000"/>
              </a:buClr>
              <a:buSzPts val="1222"/>
              <a:buFont typeface="Lato"/>
              <a:buNone/>
            </a:pPr>
            <a:r>
              <a:rPr lang="en" sz="1222">
                <a:solidFill>
                  <a:srgbClr val="000000"/>
                </a:solidFill>
                <a:latin typeface="Lato"/>
                <a:ea typeface="Lato"/>
                <a:cs typeface="Lato"/>
                <a:sym typeface="Lato"/>
              </a:rPr>
              <a:t>Holden Crouse</a:t>
            </a:r>
            <a:endParaRPr sz="1222">
              <a:solidFill>
                <a:srgbClr val="000000"/>
              </a:solidFill>
              <a:latin typeface="Lato"/>
              <a:ea typeface="Lato"/>
              <a:cs typeface="Lato"/>
              <a:sym typeface="Lato"/>
            </a:endParaRPr>
          </a:p>
          <a:p>
            <a:pPr indent="0" lvl="0" marL="0" marR="0" rtl="0" algn="ctr">
              <a:spcBef>
                <a:spcPts val="0"/>
              </a:spcBef>
              <a:spcAft>
                <a:spcPts val="0"/>
              </a:spcAft>
              <a:buClr>
                <a:srgbClr val="000000"/>
              </a:buClr>
              <a:buSzPts val="1222"/>
              <a:buFont typeface="Lato"/>
              <a:buNone/>
            </a:pPr>
            <a:r>
              <a:rPr lang="en" sz="1222">
                <a:latin typeface="Lato"/>
                <a:ea typeface="Lato"/>
                <a:cs typeface="Lato"/>
                <a:sym typeface="Lato"/>
              </a:rPr>
              <a:t>PM</a:t>
            </a:r>
            <a:endParaRPr sz="1222">
              <a:latin typeface="Lato"/>
              <a:ea typeface="Lato"/>
              <a:cs typeface="Lato"/>
              <a:sym typeface="Lato"/>
            </a:endParaRPr>
          </a:p>
        </p:txBody>
      </p:sp>
      <p:sp>
        <p:nvSpPr>
          <p:cNvPr id="117" name="Google Shape;117;p17"/>
          <p:cNvSpPr txBox="1"/>
          <p:nvPr/>
        </p:nvSpPr>
        <p:spPr>
          <a:xfrm>
            <a:off x="3807643" y="3372426"/>
            <a:ext cx="1727700" cy="260400"/>
          </a:xfrm>
          <a:prstGeom prst="rect">
            <a:avLst/>
          </a:prstGeom>
          <a:noFill/>
          <a:ln>
            <a:noFill/>
          </a:ln>
        </p:spPr>
        <p:txBody>
          <a:bodyPr anchorCtr="0" anchor="t" bIns="79775" lIns="79775" spcFirstLastPara="1" rIns="79775" wrap="square" tIns="79775">
            <a:noAutofit/>
          </a:bodyPr>
          <a:lstStyle/>
          <a:p>
            <a:pPr indent="0" lvl="0" marL="0" marR="0" rtl="0" algn="ctr">
              <a:spcBef>
                <a:spcPts val="0"/>
              </a:spcBef>
              <a:spcAft>
                <a:spcPts val="0"/>
              </a:spcAft>
              <a:buClr>
                <a:srgbClr val="000000"/>
              </a:buClr>
              <a:buSzPts val="1222"/>
              <a:buFont typeface="Lato"/>
              <a:buNone/>
            </a:pPr>
            <a:r>
              <a:rPr lang="en" sz="1222">
                <a:solidFill>
                  <a:srgbClr val="000000"/>
                </a:solidFill>
                <a:latin typeface="Lato"/>
                <a:ea typeface="Lato"/>
                <a:cs typeface="Lato"/>
                <a:sym typeface="Lato"/>
              </a:rPr>
              <a:t>Andres Vasquez</a:t>
            </a:r>
            <a:endParaRPr sz="1222">
              <a:solidFill>
                <a:srgbClr val="000000"/>
              </a:solidFill>
              <a:latin typeface="Lato"/>
              <a:ea typeface="Lato"/>
              <a:cs typeface="Lato"/>
              <a:sym typeface="Lato"/>
            </a:endParaRPr>
          </a:p>
          <a:p>
            <a:pPr indent="0" lvl="0" marL="0" marR="0" rtl="0" algn="ctr">
              <a:spcBef>
                <a:spcPts val="0"/>
              </a:spcBef>
              <a:spcAft>
                <a:spcPts val="0"/>
              </a:spcAft>
              <a:buClr>
                <a:srgbClr val="000000"/>
              </a:buClr>
              <a:buSzPts val="1222"/>
              <a:buFont typeface="Lato"/>
              <a:buNone/>
            </a:pPr>
            <a:r>
              <a:rPr lang="en" sz="1222">
                <a:latin typeface="Lato"/>
                <a:ea typeface="Lato"/>
                <a:cs typeface="Lato"/>
                <a:sym typeface="Lato"/>
              </a:rPr>
              <a:t>Team Member</a:t>
            </a:r>
            <a:endParaRPr sz="1222">
              <a:latin typeface="Lato"/>
              <a:ea typeface="Lato"/>
              <a:cs typeface="Lato"/>
              <a:sym typeface="Lato"/>
            </a:endParaRPr>
          </a:p>
        </p:txBody>
      </p:sp>
      <p:sp>
        <p:nvSpPr>
          <p:cNvPr id="118" name="Google Shape;118;p17"/>
          <p:cNvSpPr txBox="1"/>
          <p:nvPr/>
        </p:nvSpPr>
        <p:spPr>
          <a:xfrm>
            <a:off x="2376394" y="3370427"/>
            <a:ext cx="1431300" cy="311100"/>
          </a:xfrm>
          <a:prstGeom prst="rect">
            <a:avLst/>
          </a:prstGeom>
          <a:noFill/>
          <a:ln>
            <a:noFill/>
          </a:ln>
        </p:spPr>
        <p:txBody>
          <a:bodyPr anchorCtr="0" anchor="t" bIns="79775" lIns="79775" spcFirstLastPara="1" rIns="79775" wrap="square" tIns="79775">
            <a:noAutofit/>
          </a:bodyPr>
          <a:lstStyle/>
          <a:p>
            <a:pPr indent="0" lvl="0" marL="0" marR="0" rtl="0" algn="ctr">
              <a:spcBef>
                <a:spcPts val="0"/>
              </a:spcBef>
              <a:spcAft>
                <a:spcPts val="0"/>
              </a:spcAft>
              <a:buClr>
                <a:srgbClr val="000000"/>
              </a:buClr>
              <a:buSzPts val="1222"/>
              <a:buFont typeface="Lato"/>
              <a:buNone/>
            </a:pPr>
            <a:r>
              <a:rPr lang="en" sz="1222">
                <a:solidFill>
                  <a:srgbClr val="000000"/>
                </a:solidFill>
                <a:latin typeface="Lato"/>
                <a:ea typeface="Lato"/>
                <a:cs typeface="Lato"/>
                <a:sym typeface="Lato"/>
              </a:rPr>
              <a:t>Asher Tilghman</a:t>
            </a:r>
            <a:endParaRPr sz="1222">
              <a:solidFill>
                <a:srgbClr val="000000"/>
              </a:solidFill>
              <a:latin typeface="Lato"/>
              <a:ea typeface="Lato"/>
              <a:cs typeface="Lato"/>
              <a:sym typeface="Lato"/>
            </a:endParaRPr>
          </a:p>
          <a:p>
            <a:pPr indent="0" lvl="0" marL="0" marR="0" rtl="0" algn="ctr">
              <a:spcBef>
                <a:spcPts val="0"/>
              </a:spcBef>
              <a:spcAft>
                <a:spcPts val="0"/>
              </a:spcAft>
              <a:buClr>
                <a:srgbClr val="000000"/>
              </a:buClr>
              <a:buSzPts val="1222"/>
              <a:buFont typeface="Lato"/>
              <a:buNone/>
            </a:pPr>
            <a:r>
              <a:rPr lang="en" sz="1222">
                <a:latin typeface="Lato"/>
                <a:ea typeface="Lato"/>
                <a:cs typeface="Lato"/>
                <a:sym typeface="Lato"/>
              </a:rPr>
              <a:t>Team Member</a:t>
            </a:r>
            <a:endParaRPr sz="1222">
              <a:latin typeface="Lato"/>
              <a:ea typeface="Lato"/>
              <a:cs typeface="Lato"/>
              <a:sym typeface="Lato"/>
            </a:endParaRPr>
          </a:p>
        </p:txBody>
      </p:sp>
      <p:sp>
        <p:nvSpPr>
          <p:cNvPr id="119" name="Google Shape;119;p17"/>
          <p:cNvSpPr txBox="1"/>
          <p:nvPr/>
        </p:nvSpPr>
        <p:spPr>
          <a:xfrm>
            <a:off x="6852155" y="3395686"/>
            <a:ext cx="1600200" cy="260400"/>
          </a:xfrm>
          <a:prstGeom prst="rect">
            <a:avLst/>
          </a:prstGeom>
          <a:noFill/>
          <a:ln>
            <a:noFill/>
          </a:ln>
        </p:spPr>
        <p:txBody>
          <a:bodyPr anchorCtr="0" anchor="t" bIns="79775" lIns="79775" spcFirstLastPara="1" rIns="79775" wrap="square" tIns="79775">
            <a:noAutofit/>
          </a:bodyPr>
          <a:lstStyle/>
          <a:p>
            <a:pPr indent="0" lvl="0" marL="0" marR="0" rtl="0" algn="ctr">
              <a:spcBef>
                <a:spcPts val="0"/>
              </a:spcBef>
              <a:spcAft>
                <a:spcPts val="0"/>
              </a:spcAft>
              <a:buClr>
                <a:srgbClr val="000000"/>
              </a:buClr>
              <a:buSzPts val="1222"/>
              <a:buFont typeface="Lato"/>
              <a:buNone/>
            </a:pPr>
            <a:r>
              <a:rPr lang="en" sz="1222">
                <a:solidFill>
                  <a:srgbClr val="000000"/>
                </a:solidFill>
                <a:latin typeface="Lato"/>
                <a:ea typeface="Lato"/>
                <a:cs typeface="Lato"/>
                <a:sym typeface="Lato"/>
              </a:rPr>
              <a:t>Luis Martinez</a:t>
            </a:r>
            <a:endParaRPr sz="1222">
              <a:solidFill>
                <a:srgbClr val="000000"/>
              </a:solidFill>
              <a:latin typeface="Lato"/>
              <a:ea typeface="Lato"/>
              <a:cs typeface="Lato"/>
              <a:sym typeface="Lato"/>
            </a:endParaRPr>
          </a:p>
          <a:p>
            <a:pPr indent="0" lvl="0" marL="0" marR="0" rtl="0" algn="ctr">
              <a:spcBef>
                <a:spcPts val="0"/>
              </a:spcBef>
              <a:spcAft>
                <a:spcPts val="0"/>
              </a:spcAft>
              <a:buClr>
                <a:srgbClr val="000000"/>
              </a:buClr>
              <a:buSzPts val="1222"/>
              <a:buFont typeface="Lato"/>
              <a:buNone/>
            </a:pPr>
            <a:r>
              <a:rPr lang="en" sz="1222">
                <a:latin typeface="Lato"/>
                <a:ea typeface="Lato"/>
                <a:cs typeface="Lato"/>
                <a:sym typeface="Lato"/>
              </a:rPr>
              <a:t>Team Member</a:t>
            </a:r>
            <a:endParaRPr sz="1222">
              <a:latin typeface="Lato"/>
              <a:ea typeface="Lato"/>
              <a:cs typeface="Lato"/>
              <a:sym typeface="Lato"/>
            </a:endParaRPr>
          </a:p>
        </p:txBody>
      </p:sp>
      <p:pic>
        <p:nvPicPr>
          <p:cNvPr descr="A person in a suit and tie&#10;&#10;AI-generated content may be incorrect." id="120" name="Google Shape;120;p17"/>
          <p:cNvPicPr preferRelativeResize="0"/>
          <p:nvPr/>
        </p:nvPicPr>
        <p:blipFill rotWithShape="1">
          <a:blip r:embed="rId3">
            <a:alphaModFix/>
          </a:blip>
          <a:srcRect b="27678" l="0" r="0" t="0"/>
          <a:stretch/>
        </p:blipFill>
        <p:spPr>
          <a:xfrm>
            <a:off x="605425" y="1767544"/>
            <a:ext cx="1668000" cy="1608417"/>
          </a:xfrm>
          <a:prstGeom prst="rect">
            <a:avLst/>
          </a:prstGeom>
          <a:noFill/>
          <a:ln>
            <a:noFill/>
          </a:ln>
        </p:spPr>
      </p:pic>
      <p:sp>
        <p:nvSpPr>
          <p:cNvPr id="121" name="Google Shape;121;p17"/>
          <p:cNvSpPr txBox="1"/>
          <p:nvPr/>
        </p:nvSpPr>
        <p:spPr>
          <a:xfrm>
            <a:off x="5369350" y="3412850"/>
            <a:ext cx="1668000" cy="456600"/>
          </a:xfrm>
          <a:prstGeom prst="rect">
            <a:avLst/>
          </a:prstGeom>
          <a:noFill/>
          <a:ln>
            <a:noFill/>
          </a:ln>
        </p:spPr>
        <p:txBody>
          <a:bodyPr anchorCtr="0" anchor="t" bIns="39875" lIns="79775" spcFirstLastPara="1" rIns="79775" wrap="square" tIns="39875">
            <a:spAutoFit/>
          </a:bodyPr>
          <a:lstStyle/>
          <a:p>
            <a:pPr indent="0" lvl="0" marL="0" marR="0" rtl="0" algn="ctr">
              <a:spcBef>
                <a:spcPts val="0"/>
              </a:spcBef>
              <a:spcAft>
                <a:spcPts val="0"/>
              </a:spcAft>
              <a:buNone/>
            </a:pPr>
            <a:r>
              <a:rPr lang="en" sz="1222">
                <a:solidFill>
                  <a:srgbClr val="000000"/>
                </a:solidFill>
                <a:latin typeface="Lato"/>
                <a:ea typeface="Lato"/>
                <a:cs typeface="Lato"/>
                <a:sym typeface="Lato"/>
              </a:rPr>
              <a:t>Weijin Hsu</a:t>
            </a:r>
            <a:endParaRPr sz="1222">
              <a:solidFill>
                <a:srgbClr val="000000"/>
              </a:solidFill>
              <a:latin typeface="Lato"/>
              <a:ea typeface="Lato"/>
              <a:cs typeface="Lato"/>
              <a:sym typeface="Lato"/>
            </a:endParaRPr>
          </a:p>
          <a:p>
            <a:pPr indent="0" lvl="0" marL="0" marR="0" rtl="0" algn="ctr">
              <a:spcBef>
                <a:spcPts val="0"/>
              </a:spcBef>
              <a:spcAft>
                <a:spcPts val="0"/>
              </a:spcAft>
              <a:buNone/>
            </a:pPr>
            <a:r>
              <a:rPr lang="en" sz="1222">
                <a:latin typeface="Lato"/>
                <a:ea typeface="Lato"/>
                <a:cs typeface="Lato"/>
                <a:sym typeface="Lato"/>
              </a:rPr>
              <a:t>Team Member</a:t>
            </a:r>
            <a:endParaRPr sz="1222">
              <a:latin typeface="Lato"/>
              <a:ea typeface="Lato"/>
              <a:cs typeface="Lato"/>
              <a:sym typeface="Lato"/>
            </a:endParaRPr>
          </a:p>
        </p:txBody>
      </p:sp>
      <p:pic>
        <p:nvPicPr>
          <p:cNvPr descr="A person in a black suit&#10;&#10;AI-generated content may be incorrect." id="122" name="Google Shape;122;p17"/>
          <p:cNvPicPr preferRelativeResize="0"/>
          <p:nvPr/>
        </p:nvPicPr>
        <p:blipFill rotWithShape="1">
          <a:blip r:embed="rId4">
            <a:alphaModFix/>
          </a:blip>
          <a:srcRect b="0" l="0" r="0" t="0"/>
          <a:stretch/>
        </p:blipFill>
        <p:spPr>
          <a:xfrm>
            <a:off x="3927916" y="1867901"/>
            <a:ext cx="1486795" cy="1527778"/>
          </a:xfrm>
          <a:prstGeom prst="rect">
            <a:avLst/>
          </a:prstGeom>
          <a:noFill/>
          <a:ln>
            <a:noFill/>
          </a:ln>
        </p:spPr>
      </p:pic>
      <p:pic>
        <p:nvPicPr>
          <p:cNvPr descr="A person in a suit and tie&#10;&#10;AI-generated content may be incorrect." id="123" name="Google Shape;123;p17"/>
          <p:cNvPicPr preferRelativeResize="0"/>
          <p:nvPr/>
        </p:nvPicPr>
        <p:blipFill rotWithShape="1">
          <a:blip r:embed="rId5">
            <a:alphaModFix/>
          </a:blip>
          <a:srcRect b="-81" l="7797" r="6425" t="-868"/>
          <a:stretch/>
        </p:blipFill>
        <p:spPr>
          <a:xfrm>
            <a:off x="6945864" y="1486000"/>
            <a:ext cx="1415081" cy="1915040"/>
          </a:xfrm>
          <a:prstGeom prst="rect">
            <a:avLst/>
          </a:prstGeom>
          <a:noFill/>
          <a:ln>
            <a:noFill/>
          </a:ln>
        </p:spPr>
      </p:pic>
      <p:pic>
        <p:nvPicPr>
          <p:cNvPr descr="一張含有 人的臉孔, 人員, 服裝, 下巴 的圖片&#10;&#10;AI 產生的內容可能不正確。" id="124" name="Google Shape;124;p17"/>
          <p:cNvPicPr preferRelativeResize="0"/>
          <p:nvPr/>
        </p:nvPicPr>
        <p:blipFill rotWithShape="1">
          <a:blip r:embed="rId6">
            <a:alphaModFix/>
          </a:blip>
          <a:srcRect b="0" l="0" r="0" t="0"/>
          <a:stretch/>
        </p:blipFill>
        <p:spPr>
          <a:xfrm>
            <a:off x="5533818" y="1971382"/>
            <a:ext cx="1292926" cy="1320816"/>
          </a:xfrm>
          <a:prstGeom prst="rect">
            <a:avLst/>
          </a:prstGeom>
          <a:noFill/>
          <a:ln>
            <a:noFill/>
          </a:ln>
        </p:spPr>
      </p:pic>
      <p:sp>
        <p:nvSpPr>
          <p:cNvPr id="125" name="Google Shape;125;p17"/>
          <p:cNvSpPr/>
          <p:nvPr/>
        </p:nvSpPr>
        <p:spPr>
          <a:xfrm>
            <a:off x="448700" y="209050"/>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Our Team</a:t>
            </a:r>
            <a:endParaRPr sz="2400">
              <a:solidFill>
                <a:schemeClr val="dk1"/>
              </a:solidFill>
              <a:latin typeface="Arial"/>
              <a:ea typeface="Arial"/>
              <a:cs typeface="Arial"/>
              <a:sym typeface="Arial"/>
            </a:endParaRPr>
          </a:p>
        </p:txBody>
      </p:sp>
      <p:cxnSp>
        <p:nvCxnSpPr>
          <p:cNvPr id="126" name="Google Shape;126;p17"/>
          <p:cNvCxnSpPr/>
          <p:nvPr/>
        </p:nvCxnSpPr>
        <p:spPr>
          <a:xfrm>
            <a:off x="457200" y="601775"/>
            <a:ext cx="8229600" cy="0"/>
          </a:xfrm>
          <a:prstGeom prst="straightConnector1">
            <a:avLst/>
          </a:prstGeom>
          <a:noFill/>
          <a:ln cap="flat" cmpd="sng" w="12700">
            <a:solidFill>
              <a:srgbClr val="4B79C9"/>
            </a:solidFill>
            <a:prstDash val="solid"/>
            <a:round/>
            <a:headEnd len="sm" w="sm" type="none"/>
            <a:tailEnd len="sm" w="sm" type="none"/>
          </a:ln>
        </p:spPr>
      </p:cxnSp>
      <p:pic>
        <p:nvPicPr>
          <p:cNvPr id="127" name="Google Shape;127;p17"/>
          <p:cNvPicPr preferRelativeResize="0"/>
          <p:nvPr/>
        </p:nvPicPr>
        <p:blipFill>
          <a:blip r:embed="rId7">
            <a:alphaModFix/>
          </a:blip>
          <a:stretch>
            <a:fillRect/>
          </a:stretch>
        </p:blipFill>
        <p:spPr>
          <a:xfrm>
            <a:off x="2463349" y="1701604"/>
            <a:ext cx="1292925" cy="16688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p:nvPr/>
        </p:nvSpPr>
        <p:spPr>
          <a:xfrm>
            <a:off x="457200" y="177800"/>
            <a:ext cx="5334000" cy="3693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latin typeface="Arial"/>
                <a:ea typeface="Arial"/>
                <a:cs typeface="Arial"/>
                <a:sym typeface="Arial"/>
              </a:rPr>
              <a:t>Project goa</a:t>
            </a:r>
            <a:r>
              <a:rPr b="1" lang="en" sz="2400">
                <a:solidFill>
                  <a:srgbClr val="16324F"/>
                </a:solidFill>
              </a:rPr>
              <a:t>ls and </a:t>
            </a:r>
            <a:r>
              <a:rPr b="1" lang="en" sz="2400">
                <a:solidFill>
                  <a:srgbClr val="16324F"/>
                </a:solidFill>
                <a:latin typeface="Arial"/>
                <a:ea typeface="Arial"/>
                <a:cs typeface="Arial"/>
                <a:sym typeface="Arial"/>
              </a:rPr>
              <a:t>current status</a:t>
            </a:r>
            <a:endParaRPr sz="2400">
              <a:solidFill>
                <a:schemeClr val="dk1"/>
              </a:solidFill>
              <a:latin typeface="Arial"/>
              <a:ea typeface="Arial"/>
              <a:cs typeface="Arial"/>
              <a:sym typeface="Arial"/>
            </a:endParaRPr>
          </a:p>
        </p:txBody>
      </p:sp>
      <p:cxnSp>
        <p:nvCxnSpPr>
          <p:cNvPr id="134" name="Google Shape;134;p18"/>
          <p:cNvCxnSpPr/>
          <p:nvPr/>
        </p:nvCxnSpPr>
        <p:spPr>
          <a:xfrm>
            <a:off x="457200" y="609600"/>
            <a:ext cx="8229600" cy="0"/>
          </a:xfrm>
          <a:prstGeom prst="straightConnector1">
            <a:avLst/>
          </a:prstGeom>
          <a:noFill/>
          <a:ln cap="flat" cmpd="sng" w="12700">
            <a:solidFill>
              <a:srgbClr val="4B79C9"/>
            </a:solidFill>
            <a:prstDash val="solid"/>
            <a:round/>
            <a:headEnd len="sm" w="sm" type="none"/>
            <a:tailEnd len="sm" w="sm" type="none"/>
          </a:ln>
        </p:spPr>
      </p:cxnSp>
      <p:sp>
        <p:nvSpPr>
          <p:cNvPr id="135" name="Google Shape;135;p18"/>
          <p:cNvSpPr/>
          <p:nvPr/>
        </p:nvSpPr>
        <p:spPr>
          <a:xfrm>
            <a:off x="457200" y="711200"/>
            <a:ext cx="2540000" cy="215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1400"/>
              <a:buFont typeface="Arial"/>
              <a:buNone/>
            </a:pPr>
            <a:r>
              <a:rPr b="1" lang="en" sz="1400">
                <a:solidFill>
                  <a:srgbClr val="16324F"/>
                </a:solidFill>
                <a:latin typeface="Arial"/>
                <a:ea typeface="Arial"/>
                <a:cs typeface="Arial"/>
                <a:sym typeface="Arial"/>
              </a:rPr>
              <a:t>Project focus</a:t>
            </a:r>
            <a:endParaRPr/>
          </a:p>
        </p:txBody>
      </p:sp>
      <p:sp>
        <p:nvSpPr>
          <p:cNvPr id="136" name="Google Shape;136;p18"/>
          <p:cNvSpPr/>
          <p:nvPr/>
        </p:nvSpPr>
        <p:spPr>
          <a:xfrm>
            <a:off x="457200" y="965200"/>
            <a:ext cx="4229100" cy="1422400"/>
          </a:xfrm>
          <a:prstGeom prst="rect">
            <a:avLst/>
          </a:prstGeom>
          <a:noFill/>
          <a:ln>
            <a:noFill/>
          </a:ln>
        </p:spPr>
        <p:txBody>
          <a:bodyPr anchorCtr="0" anchor="t" bIns="250" lIns="250" spcFirstLastPara="1" rIns="250" wrap="square" tIns="250">
            <a:noAutofit/>
          </a:bodyPr>
          <a:lstStyle/>
          <a:p>
            <a:pPr indent="-171450" lvl="0" marL="171450" marR="0" rtl="0" algn="l">
              <a:spcBef>
                <a:spcPts val="0"/>
              </a:spcBef>
              <a:spcAft>
                <a:spcPts val="0"/>
              </a:spcAft>
              <a:buClr>
                <a:srgbClr val="2B2B2B"/>
              </a:buClr>
              <a:buSzPts val="1400"/>
              <a:buFont typeface="Arial"/>
              <a:buChar char="•"/>
            </a:pPr>
            <a:r>
              <a:rPr lang="en" sz="1400">
                <a:solidFill>
                  <a:srgbClr val="2B2B2B"/>
                </a:solidFill>
                <a:latin typeface="Arial"/>
                <a:ea typeface="Arial"/>
                <a:cs typeface="Arial"/>
                <a:sym typeface="Arial"/>
              </a:rPr>
              <a:t>Partner with Sleep in Heavenly Peace (NRV) to support the spring bed-build effort.</a:t>
            </a:r>
            <a:endParaRPr/>
          </a:p>
          <a:p>
            <a:pPr indent="-171450" lvl="0" marL="171450" marR="0" rtl="0" algn="l">
              <a:spcBef>
                <a:spcPts val="0"/>
              </a:spcBef>
              <a:spcAft>
                <a:spcPts val="0"/>
              </a:spcAft>
              <a:buClr>
                <a:srgbClr val="2B2B2B"/>
              </a:buClr>
              <a:buSzPts val="1400"/>
              <a:buFont typeface="Arial"/>
              <a:buChar char="•"/>
            </a:pPr>
            <a:r>
              <a:rPr lang="en" sz="1400">
                <a:solidFill>
                  <a:srgbClr val="2B2B2B"/>
                </a:solidFill>
                <a:latin typeface="Arial"/>
                <a:ea typeface="Arial"/>
                <a:cs typeface="Arial"/>
                <a:sym typeface="Arial"/>
              </a:rPr>
              <a:t>Fundraise 40 twin bed-in-a-bag sets before the Apr 25 build and help the build run smoothly.</a:t>
            </a:r>
            <a:endParaRPr/>
          </a:p>
          <a:p>
            <a:pPr indent="-171450" lvl="0" marL="171450" marR="0" rtl="0" algn="l">
              <a:spcBef>
                <a:spcPts val="0"/>
              </a:spcBef>
              <a:spcAft>
                <a:spcPts val="0"/>
              </a:spcAft>
              <a:buClr>
                <a:srgbClr val="2B2B2B"/>
              </a:buClr>
              <a:buSzPts val="1400"/>
              <a:buFont typeface="Arial"/>
              <a:buChar char="•"/>
            </a:pPr>
            <a:r>
              <a:rPr lang="en" sz="1400">
                <a:solidFill>
                  <a:srgbClr val="2B2B2B"/>
                </a:solidFill>
                <a:latin typeface="Arial"/>
                <a:ea typeface="Arial"/>
                <a:cs typeface="Arial"/>
                <a:sym typeface="Arial"/>
              </a:rPr>
              <a:t>Use a structured project-management approach with clear milestones, roles, and sponsor communication.</a:t>
            </a:r>
            <a:endParaRPr/>
          </a:p>
        </p:txBody>
      </p:sp>
      <p:sp>
        <p:nvSpPr>
          <p:cNvPr id="137" name="Google Shape;137;p18"/>
          <p:cNvSpPr/>
          <p:nvPr/>
        </p:nvSpPr>
        <p:spPr>
          <a:xfrm>
            <a:off x="457200" y="2540000"/>
            <a:ext cx="2286000" cy="215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1400"/>
              <a:buFont typeface="Arial"/>
              <a:buNone/>
            </a:pPr>
            <a:r>
              <a:rPr b="1" lang="en" sz="1400">
                <a:solidFill>
                  <a:srgbClr val="16324F"/>
                </a:solidFill>
                <a:latin typeface="Arial"/>
                <a:ea typeface="Arial"/>
                <a:cs typeface="Arial"/>
                <a:sym typeface="Arial"/>
              </a:rPr>
              <a:t>Status snapshot</a:t>
            </a:r>
            <a:endParaRPr/>
          </a:p>
        </p:txBody>
      </p:sp>
      <p:sp>
        <p:nvSpPr>
          <p:cNvPr id="138" name="Google Shape;138;p18"/>
          <p:cNvSpPr/>
          <p:nvPr/>
        </p:nvSpPr>
        <p:spPr>
          <a:xfrm>
            <a:off x="457200" y="2819400"/>
            <a:ext cx="2044700" cy="914400"/>
          </a:xfrm>
          <a:prstGeom prst="roundRect">
            <a:avLst>
              <a:gd fmla="val 9091"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635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18"/>
          <p:cNvSpPr/>
          <p:nvPr/>
        </p:nvSpPr>
        <p:spPr>
          <a:xfrm>
            <a:off x="508000" y="3009444"/>
            <a:ext cx="609600" cy="5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79C9"/>
              </a:buClr>
              <a:buSzPts val="1850"/>
              <a:buFont typeface="Arial"/>
              <a:buNone/>
            </a:pPr>
            <a:r>
              <a:rPr b="1" lang="en" sz="1450">
                <a:solidFill>
                  <a:srgbClr val="4B79C9"/>
                </a:solidFill>
              </a:rPr>
              <a:t>20</a:t>
            </a:r>
            <a:r>
              <a:rPr b="1" lang="en" sz="1450">
                <a:solidFill>
                  <a:srgbClr val="4B79C9"/>
                </a:solidFill>
                <a:latin typeface="Arial"/>
                <a:ea typeface="Arial"/>
                <a:cs typeface="Arial"/>
                <a:sym typeface="Arial"/>
              </a:rPr>
              <a:t> / 40</a:t>
            </a:r>
            <a:endParaRPr sz="1450">
              <a:solidFill>
                <a:schemeClr val="dk1"/>
              </a:solidFill>
              <a:latin typeface="Arial"/>
              <a:ea typeface="Arial"/>
              <a:cs typeface="Arial"/>
              <a:sym typeface="Arial"/>
            </a:endParaRPr>
          </a:p>
        </p:txBody>
      </p:sp>
      <p:sp>
        <p:nvSpPr>
          <p:cNvPr id="140" name="Google Shape;140;p18"/>
          <p:cNvSpPr/>
          <p:nvPr/>
        </p:nvSpPr>
        <p:spPr>
          <a:xfrm>
            <a:off x="1155800" y="2895600"/>
            <a:ext cx="134610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6324F"/>
              </a:buClr>
              <a:buSzPts val="1295"/>
              <a:buFont typeface="Arial"/>
              <a:buNone/>
            </a:pPr>
            <a:r>
              <a:rPr b="1" lang="en" sz="1295">
                <a:solidFill>
                  <a:srgbClr val="16324F"/>
                </a:solidFill>
                <a:latin typeface="Arial"/>
                <a:ea typeface="Arial"/>
                <a:cs typeface="Arial"/>
                <a:sym typeface="Arial"/>
              </a:rPr>
              <a:t>bedding target reached</a:t>
            </a:r>
            <a:endParaRPr/>
          </a:p>
        </p:txBody>
      </p:sp>
      <p:sp>
        <p:nvSpPr>
          <p:cNvPr id="141" name="Google Shape;141;p18"/>
          <p:cNvSpPr/>
          <p:nvPr/>
        </p:nvSpPr>
        <p:spPr>
          <a:xfrm>
            <a:off x="1092200" y="3302000"/>
            <a:ext cx="13462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781"/>
              </a:buClr>
              <a:buSzPts val="1400"/>
              <a:buFont typeface="Arial"/>
              <a:buNone/>
            </a:pPr>
            <a:r>
              <a:rPr lang="en">
                <a:solidFill>
                  <a:srgbClr val="6E7781"/>
                </a:solidFill>
              </a:rPr>
              <a:t>20</a:t>
            </a:r>
            <a:r>
              <a:rPr lang="en" sz="1400">
                <a:solidFill>
                  <a:srgbClr val="6E7781"/>
                </a:solidFill>
                <a:latin typeface="Arial"/>
                <a:ea typeface="Arial"/>
                <a:cs typeface="Arial"/>
                <a:sym typeface="Arial"/>
              </a:rPr>
              <a:t> sets remain</a:t>
            </a:r>
            <a:endParaRPr/>
          </a:p>
        </p:txBody>
      </p:sp>
      <p:sp>
        <p:nvSpPr>
          <p:cNvPr id="142" name="Google Shape;142;p18"/>
          <p:cNvSpPr/>
          <p:nvPr/>
        </p:nvSpPr>
        <p:spPr>
          <a:xfrm>
            <a:off x="2628900" y="2819400"/>
            <a:ext cx="2044700" cy="914400"/>
          </a:xfrm>
          <a:prstGeom prst="roundRect">
            <a:avLst>
              <a:gd fmla="val 9091"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635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18"/>
          <p:cNvSpPr/>
          <p:nvPr/>
        </p:nvSpPr>
        <p:spPr>
          <a:xfrm>
            <a:off x="2679700" y="3036316"/>
            <a:ext cx="533400"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A7A3"/>
              </a:buClr>
              <a:buSzPts val="2400"/>
              <a:buFont typeface="Arial"/>
              <a:buNone/>
            </a:pPr>
            <a:r>
              <a:rPr b="1" lang="en" sz="2400">
                <a:solidFill>
                  <a:srgbClr val="3BA7A3"/>
                </a:solidFill>
              </a:rPr>
              <a:t>8</a:t>
            </a:r>
            <a:endParaRPr sz="2400">
              <a:solidFill>
                <a:schemeClr val="dk1"/>
              </a:solidFill>
              <a:latin typeface="Arial"/>
              <a:ea typeface="Arial"/>
              <a:cs typeface="Arial"/>
              <a:sym typeface="Arial"/>
            </a:endParaRPr>
          </a:p>
        </p:txBody>
      </p:sp>
      <p:sp>
        <p:nvSpPr>
          <p:cNvPr id="144" name="Google Shape;144;p18"/>
          <p:cNvSpPr/>
          <p:nvPr/>
        </p:nvSpPr>
        <p:spPr>
          <a:xfrm>
            <a:off x="3263900" y="2895600"/>
            <a:ext cx="133350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6324F"/>
              </a:buClr>
              <a:buSzPts val="1295"/>
              <a:buFont typeface="Arial"/>
              <a:buNone/>
            </a:pPr>
            <a:r>
              <a:rPr b="1" lang="en" sz="1295">
                <a:solidFill>
                  <a:srgbClr val="16324F"/>
                </a:solidFill>
                <a:latin typeface="Arial"/>
                <a:ea typeface="Arial"/>
                <a:cs typeface="Arial"/>
                <a:sym typeface="Arial"/>
              </a:rPr>
              <a:t>core PM deliverables</a:t>
            </a:r>
            <a:endParaRPr/>
          </a:p>
        </p:txBody>
      </p:sp>
      <p:sp>
        <p:nvSpPr>
          <p:cNvPr id="145" name="Google Shape;145;p18"/>
          <p:cNvSpPr/>
          <p:nvPr/>
        </p:nvSpPr>
        <p:spPr>
          <a:xfrm>
            <a:off x="3263900" y="3302000"/>
            <a:ext cx="1333500" cy="3556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6E7781"/>
              </a:buClr>
              <a:buSzPts val="980"/>
              <a:buFont typeface="Arial"/>
              <a:buNone/>
            </a:pPr>
            <a:r>
              <a:rPr lang="en" sz="980">
                <a:solidFill>
                  <a:srgbClr val="6E7781"/>
                </a:solidFill>
                <a:latin typeface="Arial"/>
                <a:ea typeface="Arial"/>
                <a:cs typeface="Arial"/>
                <a:sym typeface="Arial"/>
              </a:rPr>
              <a:t>charter, scope, comms, schedule, risks</a:t>
            </a:r>
            <a:endParaRPr/>
          </a:p>
        </p:txBody>
      </p:sp>
      <p:sp>
        <p:nvSpPr>
          <p:cNvPr id="146" name="Google Shape;146;p18"/>
          <p:cNvSpPr/>
          <p:nvPr/>
        </p:nvSpPr>
        <p:spPr>
          <a:xfrm>
            <a:off x="457200" y="3835400"/>
            <a:ext cx="2044700" cy="914400"/>
          </a:xfrm>
          <a:prstGeom prst="roundRect">
            <a:avLst>
              <a:gd fmla="val 9091"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635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 name="Google Shape;147;p18"/>
          <p:cNvSpPr/>
          <p:nvPr/>
        </p:nvSpPr>
        <p:spPr>
          <a:xfrm>
            <a:off x="487172" y="4089400"/>
            <a:ext cx="533400"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2400"/>
              <a:buFont typeface="Arial"/>
              <a:buNone/>
            </a:pPr>
            <a:r>
              <a:rPr b="1" lang="en" sz="2400">
                <a:solidFill>
                  <a:srgbClr val="2E8B57"/>
                </a:solidFill>
              </a:rPr>
              <a:t>10</a:t>
            </a:r>
            <a:endParaRPr sz="2400">
              <a:solidFill>
                <a:schemeClr val="dk1"/>
              </a:solidFill>
              <a:latin typeface="Arial"/>
              <a:ea typeface="Arial"/>
              <a:cs typeface="Arial"/>
              <a:sym typeface="Arial"/>
            </a:endParaRPr>
          </a:p>
        </p:txBody>
      </p:sp>
      <p:sp>
        <p:nvSpPr>
          <p:cNvPr id="148" name="Google Shape;148;p18"/>
          <p:cNvSpPr/>
          <p:nvPr/>
        </p:nvSpPr>
        <p:spPr>
          <a:xfrm>
            <a:off x="1092200" y="3911600"/>
            <a:ext cx="133350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6324F"/>
              </a:buClr>
              <a:buSzPts val="1295"/>
              <a:buFont typeface="Arial"/>
              <a:buNone/>
            </a:pPr>
            <a:r>
              <a:rPr b="1" lang="en" sz="1295">
                <a:solidFill>
                  <a:srgbClr val="16324F"/>
                </a:solidFill>
                <a:latin typeface="Arial"/>
                <a:ea typeface="Arial"/>
                <a:cs typeface="Arial"/>
                <a:sym typeface="Arial"/>
              </a:rPr>
              <a:t>sponsor touchpoints</a:t>
            </a:r>
            <a:endParaRPr/>
          </a:p>
        </p:txBody>
      </p:sp>
      <p:sp>
        <p:nvSpPr>
          <p:cNvPr id="149" name="Google Shape;149;p18"/>
          <p:cNvSpPr/>
          <p:nvPr/>
        </p:nvSpPr>
        <p:spPr>
          <a:xfrm>
            <a:off x="1092200" y="4318000"/>
            <a:ext cx="133350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781"/>
              </a:buClr>
              <a:buSzPts val="1400"/>
              <a:buFont typeface="Arial"/>
              <a:buNone/>
            </a:pPr>
            <a:r>
              <a:rPr lang="en" sz="1400">
                <a:solidFill>
                  <a:srgbClr val="6E7781"/>
                </a:solidFill>
                <a:latin typeface="Arial"/>
                <a:ea typeface="Arial"/>
                <a:cs typeface="Arial"/>
                <a:sym typeface="Arial"/>
              </a:rPr>
              <a:t>Feb 1 to Mar </a:t>
            </a:r>
            <a:r>
              <a:rPr lang="en">
                <a:solidFill>
                  <a:srgbClr val="6E7781"/>
                </a:solidFill>
              </a:rPr>
              <a:t>31</a:t>
            </a:r>
            <a:endParaRPr/>
          </a:p>
        </p:txBody>
      </p:sp>
      <p:sp>
        <p:nvSpPr>
          <p:cNvPr id="150" name="Google Shape;150;p18"/>
          <p:cNvSpPr/>
          <p:nvPr/>
        </p:nvSpPr>
        <p:spPr>
          <a:xfrm>
            <a:off x="2628900" y="3835400"/>
            <a:ext cx="2044700" cy="914400"/>
          </a:xfrm>
          <a:prstGeom prst="roundRect">
            <a:avLst>
              <a:gd fmla="val 9091" name="adj"/>
            </a:avLst>
          </a:prstGeom>
          <a:solidFill>
            <a:srgbClr val="FFFFFF"/>
          </a:solidFill>
          <a:ln cap="flat" cmpd="sng" w="12700">
            <a:solidFill>
              <a:srgbClr val="D7DFEA"/>
            </a:solidFill>
            <a:prstDash val="solid"/>
            <a:round/>
            <a:headEnd len="sm" w="sm" type="none"/>
            <a:tailEnd len="sm" w="sm" type="none"/>
          </a:ln>
          <a:effectLst>
            <a:outerShdw blurRad="12700" rotWithShape="0" algn="bl" dir="2700000" dist="635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18"/>
          <p:cNvSpPr/>
          <p:nvPr/>
        </p:nvSpPr>
        <p:spPr>
          <a:xfrm>
            <a:off x="2705599" y="3987300"/>
            <a:ext cx="533400" cy="6105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D39B2A"/>
              </a:buClr>
              <a:buSzPts val="1550"/>
              <a:buFont typeface="Arial"/>
              <a:buNone/>
            </a:pPr>
            <a:r>
              <a:rPr b="1" lang="en" sz="1550">
                <a:solidFill>
                  <a:srgbClr val="D39B2A"/>
                </a:solidFill>
                <a:latin typeface="Arial"/>
                <a:ea typeface="Arial"/>
                <a:cs typeface="Arial"/>
                <a:sym typeface="Arial"/>
              </a:rPr>
              <a:t>Apr </a:t>
            </a:r>
            <a:endParaRPr/>
          </a:p>
          <a:p>
            <a:pPr indent="0" lvl="0" marL="0" marR="0" rtl="0" algn="l">
              <a:lnSpc>
                <a:spcPct val="80000"/>
              </a:lnSpc>
              <a:spcBef>
                <a:spcPts val="0"/>
              </a:spcBef>
              <a:spcAft>
                <a:spcPts val="0"/>
              </a:spcAft>
              <a:buClr>
                <a:schemeClr val="dk1"/>
              </a:buClr>
              <a:buSzPts val="1550"/>
              <a:buFont typeface="Arial"/>
              <a:buNone/>
            </a:pPr>
            <a:r>
              <a:t/>
            </a:r>
            <a:endParaRPr b="1" sz="1550">
              <a:solidFill>
                <a:srgbClr val="D39B2A"/>
              </a:solidFill>
              <a:latin typeface="Arial"/>
              <a:ea typeface="Arial"/>
              <a:cs typeface="Arial"/>
              <a:sym typeface="Arial"/>
            </a:endParaRPr>
          </a:p>
          <a:p>
            <a:pPr indent="0" lvl="0" marL="0" marR="0" rtl="0" algn="l">
              <a:lnSpc>
                <a:spcPct val="80000"/>
              </a:lnSpc>
              <a:spcBef>
                <a:spcPts val="0"/>
              </a:spcBef>
              <a:spcAft>
                <a:spcPts val="0"/>
              </a:spcAft>
              <a:buClr>
                <a:srgbClr val="D39B2A"/>
              </a:buClr>
              <a:buSzPts val="1550"/>
              <a:buFont typeface="Arial"/>
              <a:buNone/>
            </a:pPr>
            <a:r>
              <a:rPr b="1" lang="en" sz="1550">
                <a:solidFill>
                  <a:srgbClr val="D39B2A"/>
                </a:solidFill>
                <a:latin typeface="Arial"/>
                <a:ea typeface="Arial"/>
                <a:cs typeface="Arial"/>
                <a:sym typeface="Arial"/>
              </a:rPr>
              <a:t>25</a:t>
            </a:r>
            <a:endParaRPr sz="1550">
              <a:solidFill>
                <a:schemeClr val="dk1"/>
              </a:solidFill>
              <a:latin typeface="Arial"/>
              <a:ea typeface="Arial"/>
              <a:cs typeface="Arial"/>
              <a:sym typeface="Arial"/>
            </a:endParaRPr>
          </a:p>
        </p:txBody>
      </p:sp>
      <p:sp>
        <p:nvSpPr>
          <p:cNvPr id="152" name="Google Shape;152;p18"/>
          <p:cNvSpPr/>
          <p:nvPr/>
        </p:nvSpPr>
        <p:spPr>
          <a:xfrm>
            <a:off x="3263900" y="3911600"/>
            <a:ext cx="134620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6324F"/>
              </a:buClr>
              <a:buSzPts val="1295"/>
              <a:buFont typeface="Arial"/>
              <a:buNone/>
            </a:pPr>
            <a:r>
              <a:rPr b="1" lang="en" sz="1295">
                <a:solidFill>
                  <a:srgbClr val="16324F"/>
                </a:solidFill>
                <a:latin typeface="Arial"/>
                <a:ea typeface="Arial"/>
                <a:cs typeface="Arial"/>
                <a:sym typeface="Arial"/>
              </a:rPr>
              <a:t>next major build date</a:t>
            </a:r>
            <a:endParaRPr/>
          </a:p>
        </p:txBody>
      </p:sp>
      <p:sp>
        <p:nvSpPr>
          <p:cNvPr id="153" name="Google Shape;153;p18"/>
          <p:cNvSpPr/>
          <p:nvPr/>
        </p:nvSpPr>
        <p:spPr>
          <a:xfrm>
            <a:off x="3263900" y="4318000"/>
            <a:ext cx="1346200" cy="3556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6E7781"/>
              </a:buClr>
              <a:buSzPts val="1295"/>
              <a:buFont typeface="Arial"/>
              <a:buNone/>
            </a:pPr>
            <a:r>
              <a:rPr lang="en" sz="1295">
                <a:solidFill>
                  <a:srgbClr val="6E7781"/>
                </a:solidFill>
                <a:latin typeface="Arial"/>
                <a:ea typeface="Arial"/>
                <a:cs typeface="Arial"/>
                <a:sym typeface="Arial"/>
              </a:rPr>
              <a:t>Apr 10 run-through</a:t>
            </a:r>
            <a:endParaRPr/>
          </a:p>
        </p:txBody>
      </p:sp>
      <p:sp>
        <p:nvSpPr>
          <p:cNvPr id="154" name="Google Shape;154;p18"/>
          <p:cNvSpPr/>
          <p:nvPr/>
        </p:nvSpPr>
        <p:spPr>
          <a:xfrm>
            <a:off x="4826000" y="711200"/>
            <a:ext cx="3860800" cy="4038600"/>
          </a:xfrm>
          <a:prstGeom prst="roundRect">
            <a:avLst>
              <a:gd fmla="val 2339" name="adj"/>
            </a:avLst>
          </a:prstGeom>
          <a:solidFill>
            <a:srgbClr val="F6F9FF"/>
          </a:solidFill>
          <a:ln cap="flat" cmpd="sng" w="12700">
            <a:solidFill>
              <a:srgbClr val="D7DFE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5" name="Google Shape;155;p18"/>
          <p:cNvSpPr/>
          <p:nvPr/>
        </p:nvSpPr>
        <p:spPr>
          <a:xfrm>
            <a:off x="5029200" y="863600"/>
            <a:ext cx="1143000" cy="5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79C9"/>
              </a:buClr>
              <a:buSzPts val="3300"/>
              <a:buFont typeface="Arial"/>
              <a:buNone/>
            </a:pPr>
            <a:r>
              <a:rPr b="1" lang="en" sz="3000">
                <a:solidFill>
                  <a:srgbClr val="4B79C9"/>
                </a:solidFill>
              </a:rPr>
              <a:t>50</a:t>
            </a:r>
            <a:r>
              <a:rPr b="1" lang="en" sz="3000">
                <a:solidFill>
                  <a:srgbClr val="4B79C9"/>
                </a:solidFill>
                <a:latin typeface="Arial"/>
                <a:ea typeface="Arial"/>
                <a:cs typeface="Arial"/>
                <a:sym typeface="Arial"/>
              </a:rPr>
              <a:t>%</a:t>
            </a:r>
            <a:endParaRPr sz="3000">
              <a:solidFill>
                <a:schemeClr val="dk1"/>
              </a:solidFill>
              <a:latin typeface="Arial"/>
              <a:ea typeface="Arial"/>
              <a:cs typeface="Arial"/>
              <a:sym typeface="Arial"/>
            </a:endParaRPr>
          </a:p>
        </p:txBody>
      </p:sp>
      <p:sp>
        <p:nvSpPr>
          <p:cNvPr id="156" name="Google Shape;156;p18"/>
          <p:cNvSpPr/>
          <p:nvPr/>
        </p:nvSpPr>
        <p:spPr>
          <a:xfrm>
            <a:off x="5850731" y="926999"/>
            <a:ext cx="2431800" cy="52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781"/>
              </a:buClr>
              <a:buSzPts val="1200"/>
              <a:buFont typeface="Arial"/>
              <a:buNone/>
            </a:pPr>
            <a:r>
              <a:rPr lang="en" sz="1200">
                <a:solidFill>
                  <a:srgbClr val="6E7781"/>
                </a:solidFill>
                <a:latin typeface="Arial"/>
                <a:ea typeface="Arial"/>
                <a:cs typeface="Arial"/>
                <a:sym typeface="Arial"/>
              </a:rPr>
              <a:t>of bedding target documented</a:t>
            </a:r>
            <a:endParaRPr/>
          </a:p>
        </p:txBody>
      </p:sp>
      <p:sp>
        <p:nvSpPr>
          <p:cNvPr id="157" name="Google Shape;157;p18"/>
          <p:cNvSpPr/>
          <p:nvPr/>
        </p:nvSpPr>
        <p:spPr>
          <a:xfrm>
            <a:off x="5029200" y="1498600"/>
            <a:ext cx="3454400" cy="127000"/>
          </a:xfrm>
          <a:prstGeom prst="roundRect">
            <a:avLst>
              <a:gd fmla="val 42857" name="adj"/>
            </a:avLst>
          </a:prstGeom>
          <a:solidFill>
            <a:srgbClr val="E8EDF4"/>
          </a:solidFill>
          <a:ln cap="flat" cmpd="sng" w="12700">
            <a:solidFill>
              <a:srgbClr val="E8ED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8" name="Google Shape;158;p18"/>
          <p:cNvSpPr/>
          <p:nvPr/>
        </p:nvSpPr>
        <p:spPr>
          <a:xfrm>
            <a:off x="5029200" y="1498600"/>
            <a:ext cx="1769400" cy="126900"/>
          </a:xfrm>
          <a:prstGeom prst="roundRect">
            <a:avLst>
              <a:gd fmla="val 42857" name="adj"/>
            </a:avLst>
          </a:prstGeom>
          <a:solidFill>
            <a:srgbClr val="4B79C9"/>
          </a:solidFill>
          <a:ln cap="flat" cmpd="sng" w="12700">
            <a:solidFill>
              <a:srgbClr val="4B79C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9" name="Google Shape;159;p18"/>
          <p:cNvSpPr/>
          <p:nvPr/>
        </p:nvSpPr>
        <p:spPr>
          <a:xfrm>
            <a:off x="5029200" y="1701800"/>
            <a:ext cx="1143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1400"/>
              <a:buFont typeface="Arial"/>
              <a:buNone/>
            </a:pPr>
            <a:r>
              <a:rPr b="1" lang="en">
                <a:solidFill>
                  <a:srgbClr val="16324F"/>
                </a:solidFill>
              </a:rPr>
              <a:t>20</a:t>
            </a:r>
            <a:r>
              <a:rPr b="1" lang="en" sz="1400">
                <a:solidFill>
                  <a:srgbClr val="16324F"/>
                </a:solidFill>
                <a:latin typeface="Arial"/>
                <a:ea typeface="Arial"/>
                <a:cs typeface="Arial"/>
                <a:sym typeface="Arial"/>
              </a:rPr>
              <a:t> secured</a:t>
            </a:r>
            <a:endParaRPr/>
          </a:p>
        </p:txBody>
      </p:sp>
      <p:sp>
        <p:nvSpPr>
          <p:cNvPr id="160" name="Google Shape;160;p18"/>
          <p:cNvSpPr/>
          <p:nvPr/>
        </p:nvSpPr>
        <p:spPr>
          <a:xfrm>
            <a:off x="6223000" y="1676400"/>
            <a:ext cx="2235200" cy="43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781"/>
              </a:buClr>
              <a:buSzPts val="1400"/>
              <a:buFont typeface="Arial"/>
              <a:buNone/>
            </a:pPr>
            <a:r>
              <a:rPr lang="en">
                <a:solidFill>
                  <a:srgbClr val="6E7781"/>
                </a:solidFill>
              </a:rPr>
              <a:t>20</a:t>
            </a:r>
            <a:r>
              <a:rPr lang="en" sz="1400">
                <a:solidFill>
                  <a:srgbClr val="6E7781"/>
                </a:solidFill>
                <a:latin typeface="Arial"/>
                <a:ea typeface="Arial"/>
                <a:cs typeface="Arial"/>
                <a:sym typeface="Arial"/>
              </a:rPr>
              <a:t> remaining to reach 40 bed-in-a-bag sets</a:t>
            </a:r>
            <a:endParaRPr/>
          </a:p>
        </p:txBody>
      </p:sp>
      <p:sp>
        <p:nvSpPr>
          <p:cNvPr id="161" name="Google Shape;161;p18"/>
          <p:cNvSpPr/>
          <p:nvPr/>
        </p:nvSpPr>
        <p:spPr>
          <a:xfrm>
            <a:off x="5029200" y="2184400"/>
            <a:ext cx="228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1400"/>
              <a:buFont typeface="Arial"/>
              <a:buNone/>
            </a:pPr>
            <a:r>
              <a:rPr b="1" lang="en" sz="1400">
                <a:solidFill>
                  <a:srgbClr val="16324F"/>
                </a:solidFill>
                <a:latin typeface="Arial"/>
                <a:ea typeface="Arial"/>
                <a:cs typeface="Arial"/>
                <a:sym typeface="Arial"/>
              </a:rPr>
              <a:t>Milestone view</a:t>
            </a:r>
            <a:endParaRPr/>
          </a:p>
        </p:txBody>
      </p:sp>
      <p:cxnSp>
        <p:nvCxnSpPr>
          <p:cNvPr id="162" name="Google Shape;162;p18"/>
          <p:cNvCxnSpPr/>
          <p:nvPr/>
        </p:nvCxnSpPr>
        <p:spPr>
          <a:xfrm>
            <a:off x="5308600" y="2743200"/>
            <a:ext cx="2921000" cy="0"/>
          </a:xfrm>
          <a:prstGeom prst="straightConnector1">
            <a:avLst/>
          </a:prstGeom>
          <a:noFill/>
          <a:ln cap="flat" cmpd="sng" w="12700">
            <a:solidFill>
              <a:srgbClr val="D7DFEA"/>
            </a:solidFill>
            <a:prstDash val="solid"/>
            <a:round/>
            <a:headEnd len="sm" w="sm" type="none"/>
            <a:tailEnd len="sm" w="sm" type="none"/>
          </a:ln>
        </p:spPr>
      </p:cxnSp>
      <p:sp>
        <p:nvSpPr>
          <p:cNvPr id="163" name="Google Shape;163;p18"/>
          <p:cNvSpPr/>
          <p:nvPr/>
        </p:nvSpPr>
        <p:spPr>
          <a:xfrm>
            <a:off x="5232400" y="2667000"/>
            <a:ext cx="152400" cy="152400"/>
          </a:xfrm>
          <a:prstGeom prst="ellipse">
            <a:avLst/>
          </a:prstGeom>
          <a:solidFill>
            <a:srgbClr val="4B79C9"/>
          </a:solidFill>
          <a:ln cap="flat" cmpd="sng" w="12700">
            <a:solidFill>
              <a:srgbClr val="4B79C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18"/>
          <p:cNvSpPr/>
          <p:nvPr/>
        </p:nvSpPr>
        <p:spPr>
          <a:xfrm>
            <a:off x="4940300" y="2451100"/>
            <a:ext cx="736600" cy="20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781"/>
              </a:buClr>
              <a:buSzPts val="1400"/>
              <a:buFont typeface="Arial"/>
              <a:buNone/>
            </a:pPr>
            <a:r>
              <a:rPr lang="en" sz="1400">
                <a:solidFill>
                  <a:srgbClr val="6E7781"/>
                </a:solidFill>
                <a:latin typeface="Arial"/>
                <a:ea typeface="Arial"/>
                <a:cs typeface="Arial"/>
                <a:sym typeface="Arial"/>
              </a:rPr>
              <a:t>Feb 5</a:t>
            </a:r>
            <a:endParaRPr/>
          </a:p>
        </p:txBody>
      </p:sp>
      <p:sp>
        <p:nvSpPr>
          <p:cNvPr id="165" name="Google Shape;165;p18"/>
          <p:cNvSpPr/>
          <p:nvPr/>
        </p:nvSpPr>
        <p:spPr>
          <a:xfrm>
            <a:off x="4851400" y="2870200"/>
            <a:ext cx="914400" cy="508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324F"/>
              </a:buClr>
              <a:buSzPts val="1400"/>
              <a:buFont typeface="Arial"/>
              <a:buNone/>
            </a:pPr>
            <a:r>
              <a:rPr b="1" lang="en">
                <a:solidFill>
                  <a:srgbClr val="16324F"/>
                </a:solidFill>
              </a:rPr>
              <a:t>Sponsor</a:t>
            </a:r>
            <a:r>
              <a:rPr b="1" lang="en" sz="1400">
                <a:solidFill>
                  <a:srgbClr val="16324F"/>
                </a:solidFill>
                <a:latin typeface="Arial"/>
                <a:ea typeface="Arial"/>
                <a:cs typeface="Arial"/>
                <a:sym typeface="Arial"/>
              </a:rPr>
              <a:t> confirmed</a:t>
            </a:r>
            <a:endParaRPr/>
          </a:p>
        </p:txBody>
      </p:sp>
      <p:sp>
        <p:nvSpPr>
          <p:cNvPr id="166" name="Google Shape;166;p18"/>
          <p:cNvSpPr/>
          <p:nvPr/>
        </p:nvSpPr>
        <p:spPr>
          <a:xfrm>
            <a:off x="6206066" y="2667000"/>
            <a:ext cx="152400" cy="152400"/>
          </a:xfrm>
          <a:prstGeom prst="ellipse">
            <a:avLst/>
          </a:prstGeom>
          <a:solidFill>
            <a:srgbClr val="4B79C9"/>
          </a:solidFill>
          <a:ln cap="flat" cmpd="sng" w="12700">
            <a:solidFill>
              <a:srgbClr val="4B79C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8"/>
          <p:cNvSpPr/>
          <p:nvPr/>
        </p:nvSpPr>
        <p:spPr>
          <a:xfrm>
            <a:off x="5913966" y="2451100"/>
            <a:ext cx="736600" cy="20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781"/>
              </a:buClr>
              <a:buSzPts val="1400"/>
              <a:buFont typeface="Arial"/>
              <a:buNone/>
            </a:pPr>
            <a:r>
              <a:rPr lang="en" sz="1400">
                <a:solidFill>
                  <a:srgbClr val="6E7781"/>
                </a:solidFill>
                <a:latin typeface="Arial"/>
                <a:ea typeface="Arial"/>
                <a:cs typeface="Arial"/>
                <a:sym typeface="Arial"/>
              </a:rPr>
              <a:t>Feb 9</a:t>
            </a:r>
            <a:endParaRPr/>
          </a:p>
        </p:txBody>
      </p:sp>
      <p:sp>
        <p:nvSpPr>
          <p:cNvPr id="168" name="Google Shape;168;p18"/>
          <p:cNvSpPr/>
          <p:nvPr/>
        </p:nvSpPr>
        <p:spPr>
          <a:xfrm>
            <a:off x="5825066" y="2870200"/>
            <a:ext cx="914400" cy="508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324F"/>
              </a:buClr>
              <a:buSzPts val="1400"/>
              <a:buFont typeface="Arial"/>
              <a:buNone/>
            </a:pPr>
            <a:r>
              <a:rPr b="1" lang="en" sz="1400">
                <a:solidFill>
                  <a:srgbClr val="16324F"/>
                </a:solidFill>
                <a:latin typeface="Arial"/>
                <a:ea typeface="Arial"/>
                <a:cs typeface="Arial"/>
                <a:sym typeface="Arial"/>
              </a:rPr>
              <a:t>Kickoff meeting</a:t>
            </a:r>
            <a:endParaRPr/>
          </a:p>
        </p:txBody>
      </p:sp>
      <p:sp>
        <p:nvSpPr>
          <p:cNvPr id="169" name="Google Shape;169;p18"/>
          <p:cNvSpPr/>
          <p:nvPr/>
        </p:nvSpPr>
        <p:spPr>
          <a:xfrm>
            <a:off x="7179733" y="2667000"/>
            <a:ext cx="152400" cy="152400"/>
          </a:xfrm>
          <a:prstGeom prst="ellipse">
            <a:avLst/>
          </a:prstGeom>
          <a:solidFill>
            <a:srgbClr val="4B79C9"/>
          </a:solidFill>
          <a:ln cap="flat" cmpd="sng" w="12700">
            <a:solidFill>
              <a:srgbClr val="4B79C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18"/>
          <p:cNvSpPr/>
          <p:nvPr/>
        </p:nvSpPr>
        <p:spPr>
          <a:xfrm>
            <a:off x="6887633" y="2451100"/>
            <a:ext cx="736600" cy="20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781"/>
              </a:buClr>
              <a:buSzPts val="1400"/>
              <a:buFont typeface="Arial"/>
              <a:buNone/>
            </a:pPr>
            <a:r>
              <a:rPr lang="en" sz="1400">
                <a:solidFill>
                  <a:srgbClr val="6E7781"/>
                </a:solidFill>
                <a:latin typeface="Arial"/>
                <a:ea typeface="Arial"/>
                <a:cs typeface="Arial"/>
                <a:sym typeface="Arial"/>
              </a:rPr>
              <a:t>Mar </a:t>
            </a:r>
            <a:r>
              <a:rPr lang="en">
                <a:solidFill>
                  <a:srgbClr val="6E7781"/>
                </a:solidFill>
              </a:rPr>
              <a:t>31</a:t>
            </a:r>
            <a:endParaRPr/>
          </a:p>
        </p:txBody>
      </p:sp>
      <p:sp>
        <p:nvSpPr>
          <p:cNvPr id="171" name="Google Shape;171;p18"/>
          <p:cNvSpPr/>
          <p:nvPr/>
        </p:nvSpPr>
        <p:spPr>
          <a:xfrm>
            <a:off x="6798733" y="2870200"/>
            <a:ext cx="914400" cy="508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324F"/>
              </a:buClr>
              <a:buSzPts val="1400"/>
              <a:buFont typeface="Arial"/>
              <a:buNone/>
            </a:pPr>
            <a:r>
              <a:rPr b="1" lang="en" sz="1400">
                <a:solidFill>
                  <a:srgbClr val="16324F"/>
                </a:solidFill>
                <a:latin typeface="Arial"/>
                <a:ea typeface="Arial"/>
                <a:cs typeface="Arial"/>
                <a:sym typeface="Arial"/>
              </a:rPr>
              <a:t>Progress review</a:t>
            </a:r>
            <a:endParaRPr/>
          </a:p>
        </p:txBody>
      </p:sp>
      <p:sp>
        <p:nvSpPr>
          <p:cNvPr id="172" name="Google Shape;172;p18"/>
          <p:cNvSpPr/>
          <p:nvPr/>
        </p:nvSpPr>
        <p:spPr>
          <a:xfrm>
            <a:off x="8153400" y="2667000"/>
            <a:ext cx="152400" cy="152400"/>
          </a:xfrm>
          <a:prstGeom prst="ellipse">
            <a:avLst/>
          </a:prstGeom>
          <a:solidFill>
            <a:srgbClr val="D39B2A"/>
          </a:solidFill>
          <a:ln cap="flat" cmpd="sng" w="12700">
            <a:solidFill>
              <a:srgbClr val="D39B2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18"/>
          <p:cNvSpPr/>
          <p:nvPr/>
        </p:nvSpPr>
        <p:spPr>
          <a:xfrm>
            <a:off x="7861300" y="2451100"/>
            <a:ext cx="736600" cy="20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781"/>
              </a:buClr>
              <a:buSzPts val="1400"/>
              <a:buFont typeface="Arial"/>
              <a:buNone/>
            </a:pPr>
            <a:r>
              <a:rPr lang="en" sz="1400">
                <a:solidFill>
                  <a:srgbClr val="6E7781"/>
                </a:solidFill>
                <a:latin typeface="Arial"/>
                <a:ea typeface="Arial"/>
                <a:cs typeface="Arial"/>
                <a:sym typeface="Arial"/>
              </a:rPr>
              <a:t>Apr 25</a:t>
            </a:r>
            <a:endParaRPr/>
          </a:p>
        </p:txBody>
      </p:sp>
      <p:sp>
        <p:nvSpPr>
          <p:cNvPr id="174" name="Google Shape;174;p18"/>
          <p:cNvSpPr/>
          <p:nvPr/>
        </p:nvSpPr>
        <p:spPr>
          <a:xfrm>
            <a:off x="7772400" y="2870200"/>
            <a:ext cx="914400" cy="508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324F"/>
              </a:buClr>
              <a:buSzPts val="1400"/>
              <a:buFont typeface="Arial"/>
              <a:buNone/>
            </a:pPr>
            <a:r>
              <a:rPr b="1" lang="en" sz="1400">
                <a:solidFill>
                  <a:srgbClr val="16324F"/>
                </a:solidFill>
                <a:latin typeface="Arial"/>
                <a:ea typeface="Arial"/>
                <a:cs typeface="Arial"/>
                <a:sym typeface="Arial"/>
              </a:rPr>
              <a:t>Primary bed build</a:t>
            </a:r>
            <a:endParaRPr/>
          </a:p>
        </p:txBody>
      </p:sp>
      <p:sp>
        <p:nvSpPr>
          <p:cNvPr id="175" name="Google Shape;175;p18"/>
          <p:cNvSpPr/>
          <p:nvPr/>
        </p:nvSpPr>
        <p:spPr>
          <a:xfrm>
            <a:off x="4978400" y="3556000"/>
            <a:ext cx="3556000" cy="635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B2B2B"/>
              </a:buClr>
              <a:buSzPts val="1400"/>
              <a:buFont typeface="Arial"/>
              <a:buNone/>
            </a:pPr>
            <a:r>
              <a:rPr lang="en" sz="1400">
                <a:solidFill>
                  <a:srgbClr val="2B2B2B"/>
                </a:solidFill>
                <a:latin typeface="Arial"/>
                <a:ea typeface="Arial"/>
                <a:cs typeface="Arial"/>
                <a:sym typeface="Arial"/>
              </a:rPr>
              <a:t>Current effort: </a:t>
            </a:r>
            <a:r>
              <a:rPr lang="en">
                <a:solidFill>
                  <a:srgbClr val="2B2B2B"/>
                </a:solidFill>
              </a:rPr>
              <a:t>Continue fundraising for bedding sets, collaborate with sponsor for bed deliveries, and run a </a:t>
            </a:r>
            <a:r>
              <a:rPr lang="en">
                <a:solidFill>
                  <a:srgbClr val="2B2B2B"/>
                </a:solidFill>
              </a:rPr>
              <a:t>successful</a:t>
            </a:r>
            <a:r>
              <a:rPr lang="en">
                <a:solidFill>
                  <a:srgbClr val="2B2B2B"/>
                </a:solidFill>
              </a:rPr>
              <a:t> bed build on April 25th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p:nvPr/>
        </p:nvSpPr>
        <p:spPr>
          <a:xfrm>
            <a:off x="320040" y="91440"/>
            <a:ext cx="85039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500"/>
              <a:buFont typeface="Calibri"/>
              <a:buNone/>
            </a:pPr>
            <a:r>
              <a:rPr b="1" lang="en" sz="2500">
                <a:solidFill>
                  <a:srgbClr val="1B3A6B"/>
                </a:solidFill>
                <a:latin typeface="Calibri"/>
                <a:ea typeface="Calibri"/>
                <a:cs typeface="Calibri"/>
                <a:sym typeface="Calibri"/>
              </a:rPr>
              <a:t>Current Challenges</a:t>
            </a:r>
            <a:endParaRPr b="0" i="0" sz="2500" u="none" cap="none" strike="noStrike">
              <a:solidFill>
                <a:schemeClr val="dk1"/>
              </a:solidFill>
              <a:latin typeface="Calibri"/>
              <a:ea typeface="Calibri"/>
              <a:cs typeface="Calibri"/>
              <a:sym typeface="Calibri"/>
            </a:endParaRPr>
          </a:p>
        </p:txBody>
      </p:sp>
      <p:sp>
        <p:nvSpPr>
          <p:cNvPr id="182" name="Google Shape;182;p19"/>
          <p:cNvSpPr/>
          <p:nvPr/>
        </p:nvSpPr>
        <p:spPr>
          <a:xfrm>
            <a:off x="320040" y="603504"/>
            <a:ext cx="8503920" cy="32004"/>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a:off x="4434840" y="731520"/>
            <a:ext cx="4407408" cy="4187952"/>
          </a:xfrm>
          <a:prstGeom prst="rect">
            <a:avLst/>
          </a:prstGeom>
          <a:solidFill>
            <a:srgbClr val="F4F6FA"/>
          </a:solidFill>
          <a:ln cap="flat" cmpd="sng" w="9525">
            <a:solidFill>
              <a:srgbClr val="E2E8F0"/>
            </a:solidFill>
            <a:prstDash val="solid"/>
            <a:round/>
            <a:headEnd len="sm" w="sm" type="none"/>
            <a:tailEnd len="sm" w="sm" type="none"/>
          </a:ln>
          <a:effectLst>
            <a:outerShdw blurRad="635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320040" y="757458"/>
            <a:ext cx="397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5199"/>
              </a:buClr>
              <a:buSzPts val="1200"/>
              <a:buFont typeface="Calibri"/>
              <a:buNone/>
            </a:pPr>
            <a:r>
              <a:rPr b="1" i="0" lang="en" sz="1500" u="none" cap="none" strike="noStrike">
                <a:solidFill>
                  <a:srgbClr val="2D5199"/>
                </a:solidFill>
                <a:latin typeface="Calibri"/>
                <a:ea typeface="Calibri"/>
                <a:cs typeface="Calibri"/>
                <a:sym typeface="Calibri"/>
              </a:rPr>
              <a:t>Current pressure points</a:t>
            </a:r>
            <a:endParaRPr b="0" i="0" sz="1500" u="none" cap="none" strike="noStrike">
              <a:solidFill>
                <a:schemeClr val="dk1"/>
              </a:solidFill>
              <a:latin typeface="Calibri"/>
              <a:ea typeface="Calibri"/>
              <a:cs typeface="Calibri"/>
              <a:sym typeface="Calibri"/>
            </a:endParaRPr>
          </a:p>
        </p:txBody>
      </p:sp>
      <p:sp>
        <p:nvSpPr>
          <p:cNvPr id="185" name="Google Shape;185;p19"/>
          <p:cNvSpPr/>
          <p:nvPr/>
        </p:nvSpPr>
        <p:spPr>
          <a:xfrm>
            <a:off x="320013" y="1078999"/>
            <a:ext cx="3977700" cy="1578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2B3C"/>
              </a:buClr>
              <a:buSzPts val="1200"/>
              <a:buFont typeface="Calibri"/>
              <a:buChar char="•"/>
            </a:pPr>
            <a:r>
              <a:rPr b="0" i="0" lang="en" sz="1200" u="none" cap="none" strike="noStrike">
                <a:solidFill>
                  <a:srgbClr val="1E2B3C"/>
                </a:solidFill>
                <a:latin typeface="Calibri"/>
                <a:ea typeface="Calibri"/>
                <a:cs typeface="Calibri"/>
                <a:sym typeface="Calibri"/>
              </a:rPr>
              <a:t>The biggest gap is still fundraising: </a:t>
            </a:r>
            <a:r>
              <a:rPr lang="en" sz="1200">
                <a:solidFill>
                  <a:srgbClr val="1E2B3C"/>
                </a:solidFill>
                <a:latin typeface="Calibri"/>
                <a:ea typeface="Calibri"/>
                <a:cs typeface="Calibri"/>
                <a:sym typeface="Calibri"/>
              </a:rPr>
              <a:t>20</a:t>
            </a:r>
            <a:r>
              <a:rPr b="0" i="0" lang="en" sz="1200" u="none" cap="none" strike="noStrike">
                <a:solidFill>
                  <a:srgbClr val="1E2B3C"/>
                </a:solidFill>
                <a:latin typeface="Calibri"/>
                <a:ea typeface="Calibri"/>
                <a:cs typeface="Calibri"/>
                <a:sym typeface="Calibri"/>
              </a:rPr>
              <a:t> bed-in-a-bag sets remain before the Apr 25 target.</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E2B3C"/>
              </a:buClr>
              <a:buSzPts val="1200"/>
              <a:buFont typeface="Calibri"/>
              <a:buChar char="•"/>
            </a:pPr>
            <a:r>
              <a:rPr b="0" i="0" lang="en" sz="1200" u="none" cap="none" strike="noStrike">
                <a:solidFill>
                  <a:srgbClr val="1E2B3C"/>
                </a:solidFill>
                <a:latin typeface="Calibri"/>
                <a:ea typeface="Calibri"/>
                <a:cs typeface="Calibri"/>
                <a:sym typeface="Calibri"/>
              </a:rPr>
              <a:t>Some operating details are still unresolved, especially sponsor participation and delivery information.</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E2B3C"/>
              </a:buClr>
              <a:buSzPts val="1200"/>
              <a:buFont typeface="Calibri"/>
              <a:buChar char="•"/>
            </a:pPr>
            <a:r>
              <a:rPr b="0" i="0" lang="en" sz="1200" u="none" cap="none" strike="noStrike">
                <a:solidFill>
                  <a:srgbClr val="1E2B3C"/>
                </a:solidFill>
                <a:latin typeface="Calibri"/>
                <a:ea typeface="Calibri"/>
                <a:cs typeface="Calibri"/>
                <a:sym typeface="Calibri"/>
              </a:rPr>
              <a:t>The team must balance class deadlines with real project outreach, which compresses the timeline.</a:t>
            </a:r>
            <a:endParaRPr b="0" i="0" sz="1200" u="none" cap="none" strike="noStrike">
              <a:solidFill>
                <a:schemeClr val="dk1"/>
              </a:solidFill>
              <a:latin typeface="Calibri"/>
              <a:ea typeface="Calibri"/>
              <a:cs typeface="Calibri"/>
              <a:sym typeface="Calibri"/>
            </a:endParaRPr>
          </a:p>
        </p:txBody>
      </p:sp>
      <p:sp>
        <p:nvSpPr>
          <p:cNvPr id="186" name="Google Shape;186;p19"/>
          <p:cNvSpPr/>
          <p:nvPr/>
        </p:nvSpPr>
        <p:spPr>
          <a:xfrm>
            <a:off x="320040" y="2834640"/>
            <a:ext cx="3977640" cy="1170432"/>
          </a:xfrm>
          <a:prstGeom prst="rect">
            <a:avLst/>
          </a:prstGeom>
          <a:solidFill>
            <a:srgbClr val="FFFFFF"/>
          </a:solidFill>
          <a:ln cap="flat" cmpd="sng" w="9525">
            <a:solidFill>
              <a:srgbClr val="CBD5E1"/>
            </a:solidFill>
            <a:prstDash val="solid"/>
            <a:round/>
            <a:headEnd len="sm" w="sm" type="none"/>
            <a:tailEnd len="sm" w="sm" type="none"/>
          </a:ln>
          <a:effectLst>
            <a:outerShdw blurRad="635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502920" y="2898648"/>
            <a:ext cx="365760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1" i="0" lang="en" sz="1050" u="none" cap="none" strike="noStrike">
                <a:solidFill>
                  <a:srgbClr val="64748B"/>
                </a:solidFill>
                <a:latin typeface="Calibri"/>
                <a:ea typeface="Calibri"/>
                <a:cs typeface="Calibri"/>
                <a:sym typeface="Calibri"/>
              </a:rPr>
              <a:t>Operational risks already identified in the team risk analysis include weather, volunteers, bedding availability, and communication delays. The current meeting notes show that funding and delivery clarity remain the most immediate issues.</a:t>
            </a:r>
            <a:endParaRPr b="1" i="0" sz="1050" u="none" cap="none" strike="noStrike">
              <a:solidFill>
                <a:schemeClr val="dk1"/>
              </a:solidFill>
              <a:latin typeface="Calibri"/>
              <a:ea typeface="Calibri"/>
              <a:cs typeface="Calibri"/>
              <a:sym typeface="Calibri"/>
            </a:endParaRPr>
          </a:p>
        </p:txBody>
      </p:sp>
      <p:sp>
        <p:nvSpPr>
          <p:cNvPr id="188" name="Google Shape;188;p19"/>
          <p:cNvSpPr/>
          <p:nvPr/>
        </p:nvSpPr>
        <p:spPr>
          <a:xfrm>
            <a:off x="4617720" y="822960"/>
            <a:ext cx="40416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5199"/>
              </a:buClr>
              <a:buSzPts val="1200"/>
              <a:buFont typeface="Calibri"/>
              <a:buNone/>
            </a:pPr>
            <a:r>
              <a:rPr b="1" i="0" lang="en" sz="1200" u="none" cap="none" strike="noStrike">
                <a:solidFill>
                  <a:srgbClr val="2D5199"/>
                </a:solidFill>
                <a:latin typeface="Calibri"/>
                <a:ea typeface="Calibri"/>
                <a:cs typeface="Calibri"/>
                <a:sym typeface="Calibri"/>
              </a:rPr>
              <a:t>Simplified risk view</a:t>
            </a:r>
            <a:endParaRPr b="0" i="0" sz="1200" u="none" cap="none" strike="noStrike">
              <a:solidFill>
                <a:schemeClr val="dk1"/>
              </a:solidFill>
              <a:latin typeface="Calibri"/>
              <a:ea typeface="Calibri"/>
              <a:cs typeface="Calibri"/>
              <a:sym typeface="Calibri"/>
            </a:endParaRPr>
          </a:p>
        </p:txBody>
      </p:sp>
      <p:sp>
        <p:nvSpPr>
          <p:cNvPr id="189" name="Google Shape;189;p19"/>
          <p:cNvSpPr/>
          <p:nvPr/>
        </p:nvSpPr>
        <p:spPr>
          <a:xfrm>
            <a:off x="5047488" y="987552"/>
            <a:ext cx="329184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3C"/>
              </a:buClr>
              <a:buSzPts val="900"/>
              <a:buFont typeface="Calibri"/>
              <a:buNone/>
            </a:pPr>
            <a:r>
              <a:rPr b="1" i="0" lang="en" sz="900" u="none" cap="none" strike="noStrike">
                <a:solidFill>
                  <a:srgbClr val="1E2B3C"/>
                </a:solidFill>
                <a:latin typeface="Calibri"/>
                <a:ea typeface="Calibri"/>
                <a:cs typeface="Calibri"/>
                <a:sym typeface="Calibri"/>
              </a:rPr>
              <a:t>Impact →</a:t>
            </a:r>
            <a:endParaRPr b="0" i="0" sz="900" u="none" cap="none" strike="noStrike">
              <a:solidFill>
                <a:schemeClr val="dk1"/>
              </a:solidFill>
              <a:latin typeface="Calibri"/>
              <a:ea typeface="Calibri"/>
              <a:cs typeface="Calibri"/>
              <a:sym typeface="Calibri"/>
            </a:endParaRPr>
          </a:p>
        </p:txBody>
      </p:sp>
      <p:sp>
        <p:nvSpPr>
          <p:cNvPr id="190" name="Google Shape;190;p19"/>
          <p:cNvSpPr/>
          <p:nvPr/>
        </p:nvSpPr>
        <p:spPr>
          <a:xfrm>
            <a:off x="5047488" y="1170432"/>
            <a:ext cx="10972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Low</a:t>
            </a:r>
            <a:endParaRPr b="0" i="0" sz="900" u="none" cap="none" strike="noStrike">
              <a:solidFill>
                <a:schemeClr val="dk1"/>
              </a:solidFill>
              <a:latin typeface="Calibri"/>
              <a:ea typeface="Calibri"/>
              <a:cs typeface="Calibri"/>
              <a:sym typeface="Calibri"/>
            </a:endParaRPr>
          </a:p>
        </p:txBody>
      </p:sp>
      <p:sp>
        <p:nvSpPr>
          <p:cNvPr id="191" name="Google Shape;191;p19"/>
          <p:cNvSpPr/>
          <p:nvPr/>
        </p:nvSpPr>
        <p:spPr>
          <a:xfrm>
            <a:off x="6144768" y="1170432"/>
            <a:ext cx="10972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Medium</a:t>
            </a:r>
            <a:endParaRPr b="0" i="0" sz="900" u="none" cap="none" strike="noStrike">
              <a:solidFill>
                <a:schemeClr val="dk1"/>
              </a:solidFill>
              <a:latin typeface="Calibri"/>
              <a:ea typeface="Calibri"/>
              <a:cs typeface="Calibri"/>
              <a:sym typeface="Calibri"/>
            </a:endParaRPr>
          </a:p>
        </p:txBody>
      </p:sp>
      <p:sp>
        <p:nvSpPr>
          <p:cNvPr id="192" name="Google Shape;192;p19"/>
          <p:cNvSpPr/>
          <p:nvPr/>
        </p:nvSpPr>
        <p:spPr>
          <a:xfrm>
            <a:off x="7242048" y="1170432"/>
            <a:ext cx="10972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p:txBody>
      </p:sp>
      <p:sp>
        <p:nvSpPr>
          <p:cNvPr id="193" name="Google Shape;193;p19"/>
          <p:cNvSpPr/>
          <p:nvPr/>
        </p:nvSpPr>
        <p:spPr>
          <a:xfrm>
            <a:off x="4633564" y="1664200"/>
            <a:ext cx="4389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Hi</a:t>
            </a:r>
            <a:r>
              <a:rPr lang="en" sz="900">
                <a:solidFill>
                  <a:srgbClr val="64748B"/>
                </a:solidFill>
                <a:latin typeface="Calibri"/>
                <a:ea typeface="Calibri"/>
                <a:cs typeface="Calibri"/>
                <a:sym typeface="Calibri"/>
              </a:rPr>
              <a:t>g</a:t>
            </a:r>
            <a:r>
              <a:rPr b="0" i="0" lang="en" sz="900" u="none" cap="none" strike="noStrike">
                <a:solidFill>
                  <a:srgbClr val="64748B"/>
                </a:solidFill>
                <a:latin typeface="Calibri"/>
                <a:ea typeface="Calibri"/>
                <a:cs typeface="Calibri"/>
                <a:sym typeface="Calibri"/>
              </a:rPr>
              <a:t>h</a:t>
            </a:r>
            <a:endParaRPr b="0" i="0" sz="900" u="none" cap="none" strike="noStrike">
              <a:solidFill>
                <a:schemeClr val="dk1"/>
              </a:solidFill>
              <a:latin typeface="Calibri"/>
              <a:ea typeface="Calibri"/>
              <a:cs typeface="Calibri"/>
              <a:sym typeface="Calibri"/>
            </a:endParaRPr>
          </a:p>
        </p:txBody>
      </p:sp>
      <p:sp>
        <p:nvSpPr>
          <p:cNvPr id="194" name="Google Shape;194;p19"/>
          <p:cNvSpPr/>
          <p:nvPr/>
        </p:nvSpPr>
        <p:spPr>
          <a:xfrm>
            <a:off x="4591794" y="2542025"/>
            <a:ext cx="438900" cy="329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Med</a:t>
            </a:r>
            <a:endParaRPr b="0" i="0" sz="900" u="none" cap="none" strike="noStrike">
              <a:solidFill>
                <a:schemeClr val="dk1"/>
              </a:solidFill>
              <a:latin typeface="Calibri"/>
              <a:ea typeface="Calibri"/>
              <a:cs typeface="Calibri"/>
              <a:sym typeface="Calibri"/>
            </a:endParaRPr>
          </a:p>
        </p:txBody>
      </p:sp>
      <p:sp>
        <p:nvSpPr>
          <p:cNvPr id="195" name="Google Shape;195;p19"/>
          <p:cNvSpPr/>
          <p:nvPr/>
        </p:nvSpPr>
        <p:spPr>
          <a:xfrm>
            <a:off x="4633435" y="3419850"/>
            <a:ext cx="393300" cy="329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Low</a:t>
            </a:r>
            <a:endParaRPr b="0" i="0" sz="900" u="none" cap="none" strike="noStrike">
              <a:solidFill>
                <a:schemeClr val="dk1"/>
              </a:solidFill>
              <a:latin typeface="Calibri"/>
              <a:ea typeface="Calibri"/>
              <a:cs typeface="Calibri"/>
              <a:sym typeface="Calibri"/>
            </a:endParaRPr>
          </a:p>
        </p:txBody>
      </p:sp>
      <p:sp>
        <p:nvSpPr>
          <p:cNvPr id="196" name="Google Shape;196;p19"/>
          <p:cNvSpPr/>
          <p:nvPr/>
        </p:nvSpPr>
        <p:spPr>
          <a:xfrm>
            <a:off x="5047488" y="1389888"/>
            <a:ext cx="1097280" cy="877824"/>
          </a:xfrm>
          <a:prstGeom prst="rect">
            <a:avLst/>
          </a:prstGeom>
          <a:solidFill>
            <a:srgbClr val="DCFCE7"/>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
          <p:cNvSpPr/>
          <p:nvPr/>
        </p:nvSpPr>
        <p:spPr>
          <a:xfrm>
            <a:off x="6144768" y="1384550"/>
            <a:ext cx="1097400" cy="877800"/>
          </a:xfrm>
          <a:prstGeom prst="rect">
            <a:avLst/>
          </a:prstGeom>
          <a:solidFill>
            <a:srgbClr val="FEF9C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p:nvPr/>
        </p:nvSpPr>
        <p:spPr>
          <a:xfrm>
            <a:off x="7242048" y="1389888"/>
            <a:ext cx="1097280" cy="877824"/>
          </a:xfrm>
          <a:prstGeom prst="rect">
            <a:avLst/>
          </a:prstGeom>
          <a:solidFill>
            <a:srgbClr val="FEE2E2"/>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a:off x="5049406" y="2267675"/>
            <a:ext cx="1097400" cy="877800"/>
          </a:xfrm>
          <a:prstGeom prst="rect">
            <a:avLst/>
          </a:prstGeom>
          <a:solidFill>
            <a:srgbClr val="DCFCE7"/>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
          <p:cNvSpPr/>
          <p:nvPr/>
        </p:nvSpPr>
        <p:spPr>
          <a:xfrm>
            <a:off x="6144768" y="2267712"/>
            <a:ext cx="1097280" cy="877824"/>
          </a:xfrm>
          <a:prstGeom prst="rect">
            <a:avLst/>
          </a:prstGeom>
          <a:solidFill>
            <a:srgbClr val="FEF9C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a:off x="7242048" y="2267712"/>
            <a:ext cx="1097280" cy="877824"/>
          </a:xfrm>
          <a:prstGeom prst="rect">
            <a:avLst/>
          </a:prstGeom>
          <a:solidFill>
            <a:srgbClr val="FEF9C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9"/>
          <p:cNvSpPr/>
          <p:nvPr/>
        </p:nvSpPr>
        <p:spPr>
          <a:xfrm>
            <a:off x="5047463" y="3145536"/>
            <a:ext cx="1097400" cy="877800"/>
          </a:xfrm>
          <a:prstGeom prst="rect">
            <a:avLst/>
          </a:prstGeom>
          <a:solidFill>
            <a:srgbClr val="DCFCE7"/>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6144768" y="3145536"/>
            <a:ext cx="1097280" cy="877824"/>
          </a:xfrm>
          <a:prstGeom prst="rect">
            <a:avLst/>
          </a:prstGeom>
          <a:solidFill>
            <a:srgbClr val="DCFCE7"/>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7242048" y="3145536"/>
            <a:ext cx="1097280" cy="877824"/>
          </a:xfrm>
          <a:prstGeom prst="rect">
            <a:avLst/>
          </a:prstGeom>
          <a:solidFill>
            <a:srgbClr val="FEF9C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6228200" y="2476507"/>
            <a:ext cx="951000" cy="403800"/>
          </a:xfrm>
          <a:prstGeom prst="rect">
            <a:avLst/>
          </a:prstGeom>
          <a:solidFill>
            <a:srgbClr val="FFFFFF"/>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
          <p:cNvSpPr/>
          <p:nvPr/>
        </p:nvSpPr>
        <p:spPr>
          <a:xfrm>
            <a:off x="6228188" y="2476482"/>
            <a:ext cx="951000" cy="403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2626"/>
              </a:buClr>
              <a:buSzPts val="900"/>
              <a:buFont typeface="Calibri"/>
              <a:buNone/>
            </a:pPr>
            <a:r>
              <a:rPr b="1" lang="en" sz="900">
                <a:solidFill>
                  <a:srgbClr val="D97706"/>
                </a:solidFill>
                <a:latin typeface="Calibri"/>
                <a:ea typeface="Calibri"/>
                <a:cs typeface="Calibri"/>
                <a:sym typeface="Calibri"/>
              </a:rPr>
              <a:t>Lack of funding</a:t>
            </a:r>
            <a:endParaRPr b="0" i="0" sz="900" u="none" cap="none" strike="noStrike">
              <a:solidFill>
                <a:srgbClr val="D97706"/>
              </a:solidFill>
              <a:latin typeface="Calibri"/>
              <a:ea typeface="Calibri"/>
              <a:cs typeface="Calibri"/>
              <a:sym typeface="Calibri"/>
            </a:endParaRPr>
          </a:p>
        </p:txBody>
      </p:sp>
      <p:sp>
        <p:nvSpPr>
          <p:cNvPr id="207" name="Google Shape;207;p19"/>
          <p:cNvSpPr/>
          <p:nvPr/>
        </p:nvSpPr>
        <p:spPr>
          <a:xfrm>
            <a:off x="5138908" y="3382543"/>
            <a:ext cx="951000" cy="403800"/>
          </a:xfrm>
          <a:prstGeom prst="rect">
            <a:avLst/>
          </a:prstGeom>
          <a:solidFill>
            <a:srgbClr val="FFFFFF"/>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
          <p:cNvSpPr/>
          <p:nvPr/>
        </p:nvSpPr>
        <p:spPr>
          <a:xfrm>
            <a:off x="5138933" y="3382562"/>
            <a:ext cx="951000" cy="403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7706"/>
              </a:buClr>
              <a:buSzPts val="900"/>
              <a:buFont typeface="Calibri"/>
              <a:buNone/>
            </a:pPr>
            <a:r>
              <a:rPr b="1" i="0" lang="en" sz="900" u="none" cap="none" strike="noStrike">
                <a:solidFill>
                  <a:srgbClr val="2E8B57"/>
                </a:solidFill>
                <a:latin typeface="Calibri"/>
                <a:ea typeface="Calibri"/>
                <a:cs typeface="Calibri"/>
                <a:sym typeface="Calibri"/>
              </a:rPr>
              <a:t>Volunteer availability</a:t>
            </a:r>
            <a:endParaRPr b="0" i="0" sz="900" u="none" cap="none" strike="noStrike">
              <a:solidFill>
                <a:srgbClr val="2E8B57"/>
              </a:solidFill>
              <a:latin typeface="Calibri"/>
              <a:ea typeface="Calibri"/>
              <a:cs typeface="Calibri"/>
              <a:sym typeface="Calibri"/>
            </a:endParaRPr>
          </a:p>
        </p:txBody>
      </p:sp>
      <p:sp>
        <p:nvSpPr>
          <p:cNvPr id="209" name="Google Shape;209;p19"/>
          <p:cNvSpPr/>
          <p:nvPr/>
        </p:nvSpPr>
        <p:spPr>
          <a:xfrm>
            <a:off x="7315200" y="3381812"/>
            <a:ext cx="951000" cy="403800"/>
          </a:xfrm>
          <a:prstGeom prst="rect">
            <a:avLst/>
          </a:prstGeom>
          <a:solidFill>
            <a:srgbClr val="FFFFFF"/>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p:nvPr/>
        </p:nvSpPr>
        <p:spPr>
          <a:xfrm>
            <a:off x="7315188" y="3381793"/>
            <a:ext cx="951000" cy="403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7706"/>
              </a:buClr>
              <a:buSzPts val="900"/>
              <a:buFont typeface="Calibri"/>
              <a:buNone/>
            </a:pPr>
            <a:r>
              <a:rPr b="1" lang="en" sz="900">
                <a:solidFill>
                  <a:srgbClr val="D97706"/>
                </a:solidFill>
                <a:latin typeface="Calibri"/>
                <a:ea typeface="Calibri"/>
                <a:cs typeface="Calibri"/>
                <a:sym typeface="Calibri"/>
              </a:rPr>
              <a:t>Late delivery of materials</a:t>
            </a:r>
            <a:endParaRPr b="0" i="0" sz="900" u="none" cap="none" strike="noStrike">
              <a:solidFill>
                <a:schemeClr val="dk1"/>
              </a:solidFill>
              <a:latin typeface="Calibri"/>
              <a:ea typeface="Calibri"/>
              <a:cs typeface="Calibri"/>
              <a:sym typeface="Calibri"/>
            </a:endParaRPr>
          </a:p>
        </p:txBody>
      </p:sp>
      <p:sp>
        <p:nvSpPr>
          <p:cNvPr id="211" name="Google Shape;211;p19"/>
          <p:cNvSpPr/>
          <p:nvPr/>
        </p:nvSpPr>
        <p:spPr>
          <a:xfrm>
            <a:off x="5138908" y="2487180"/>
            <a:ext cx="951000" cy="403800"/>
          </a:xfrm>
          <a:prstGeom prst="rect">
            <a:avLst/>
          </a:prstGeom>
          <a:solidFill>
            <a:srgbClr val="FFFFFF"/>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5138902" y="2487164"/>
            <a:ext cx="951000" cy="403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803D"/>
              </a:buClr>
              <a:buSzPts val="900"/>
              <a:buFont typeface="Calibri"/>
              <a:buNone/>
            </a:pPr>
            <a:r>
              <a:rPr b="1" lang="en" sz="900">
                <a:solidFill>
                  <a:srgbClr val="15803D"/>
                </a:solidFill>
                <a:latin typeface="Calibri"/>
                <a:ea typeface="Calibri"/>
                <a:cs typeface="Calibri"/>
                <a:sym typeface="Calibri"/>
              </a:rPr>
              <a:t>Poor weather on build date</a:t>
            </a:r>
            <a:endParaRPr b="0" i="0" sz="900" u="none" cap="none" strike="noStrike">
              <a:solidFill>
                <a:schemeClr val="dk1"/>
              </a:solidFill>
              <a:latin typeface="Calibri"/>
              <a:ea typeface="Calibri"/>
              <a:cs typeface="Calibri"/>
              <a:sym typeface="Calibri"/>
            </a:endParaRPr>
          </a:p>
        </p:txBody>
      </p:sp>
      <p:sp>
        <p:nvSpPr>
          <p:cNvPr id="213" name="Google Shape;213;p19"/>
          <p:cNvSpPr/>
          <p:nvPr/>
        </p:nvSpPr>
        <p:spPr>
          <a:xfrm>
            <a:off x="6217970" y="3382543"/>
            <a:ext cx="951000" cy="403800"/>
          </a:xfrm>
          <a:prstGeom prst="rect">
            <a:avLst/>
          </a:prstGeom>
          <a:solidFill>
            <a:srgbClr val="FFFFFF"/>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9"/>
          <p:cNvSpPr/>
          <p:nvPr/>
        </p:nvSpPr>
        <p:spPr>
          <a:xfrm>
            <a:off x="6217950" y="3382545"/>
            <a:ext cx="951000" cy="403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2626"/>
              </a:buClr>
              <a:buSzPts val="900"/>
              <a:buFont typeface="Calibri"/>
              <a:buNone/>
            </a:pPr>
            <a:r>
              <a:rPr b="1" lang="en" sz="900">
                <a:solidFill>
                  <a:srgbClr val="15803D"/>
                </a:solidFill>
                <a:latin typeface="Calibri"/>
                <a:ea typeface="Calibri"/>
                <a:cs typeface="Calibri"/>
                <a:sym typeface="Calibri"/>
              </a:rPr>
              <a:t>Poor communication</a:t>
            </a:r>
            <a:endParaRPr b="0" i="0" sz="900" u="none" cap="none" strike="noStrike">
              <a:solidFill>
                <a:srgbClr val="15803D"/>
              </a:solidFill>
              <a:latin typeface="Calibri"/>
              <a:ea typeface="Calibri"/>
              <a:cs typeface="Calibri"/>
              <a:sym typeface="Calibri"/>
            </a:endParaRPr>
          </a:p>
        </p:txBody>
      </p:sp>
      <p:sp>
        <p:nvSpPr>
          <p:cNvPr id="215" name="Google Shape;215;p19"/>
          <p:cNvSpPr/>
          <p:nvPr/>
        </p:nvSpPr>
        <p:spPr>
          <a:xfrm rot="-5400000">
            <a:off x="2938240" y="2615102"/>
            <a:ext cx="3291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3C"/>
              </a:buClr>
              <a:buSzPts val="900"/>
              <a:buFont typeface="Calibri"/>
              <a:buNone/>
            </a:pPr>
            <a:r>
              <a:rPr b="1" lang="en" sz="900">
                <a:solidFill>
                  <a:srgbClr val="1E2B3C"/>
                </a:solidFill>
                <a:latin typeface="Calibri"/>
                <a:ea typeface="Calibri"/>
                <a:cs typeface="Calibri"/>
                <a:sym typeface="Calibri"/>
              </a:rPr>
              <a:t>Probability</a:t>
            </a:r>
            <a:r>
              <a:rPr b="1" i="0" lang="en" sz="900" u="none" cap="none" strike="noStrike">
                <a:solidFill>
                  <a:srgbClr val="1E2B3C"/>
                </a:solidFill>
                <a:latin typeface="Calibri"/>
                <a:ea typeface="Calibri"/>
                <a:cs typeface="Calibri"/>
                <a:sym typeface="Calibri"/>
              </a:rPr>
              <a:t>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idx="1" type="body"/>
          </p:nvPr>
        </p:nvSpPr>
        <p:spPr>
          <a:xfrm>
            <a:off x="457200" y="838200"/>
            <a:ext cx="8229600" cy="3863400"/>
          </a:xfrm>
          <a:prstGeom prst="rect">
            <a:avLst/>
          </a:prstGeom>
          <a:noFill/>
          <a:ln>
            <a:noFill/>
          </a:ln>
        </p:spPr>
        <p:txBody>
          <a:bodyPr anchorCtr="0" anchor="t" bIns="45700" lIns="91425" spcFirstLastPara="1" rIns="91425" wrap="square" tIns="45700">
            <a:spAutoFit/>
          </a:bodyPr>
          <a:lstStyle/>
          <a:p>
            <a:pPr indent="-228600" lvl="0" marL="228600" rtl="0" algn="l">
              <a:lnSpc>
                <a:spcPct val="140000"/>
              </a:lnSpc>
              <a:spcBef>
                <a:spcPts val="400"/>
              </a:spcBef>
              <a:spcAft>
                <a:spcPts val="0"/>
              </a:spcAft>
              <a:buClr>
                <a:srgbClr val="16324F"/>
              </a:buClr>
              <a:buSzPts val="2000"/>
              <a:buFont typeface="Arial"/>
              <a:buChar char="•"/>
            </a:pPr>
            <a:r>
              <a:rPr b="1" lang="en" sz="2000">
                <a:solidFill>
                  <a:schemeClr val="dk1"/>
                </a:solidFill>
                <a:latin typeface="Arial"/>
                <a:ea typeface="Arial"/>
                <a:cs typeface="Arial"/>
                <a:sym typeface="Arial"/>
              </a:rPr>
              <a:t>Weather prevents bed building outside</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Track the weather for the bed build week and keep volunteers informed of change of build site.</a:t>
            </a:r>
            <a:endParaRPr/>
          </a:p>
          <a:p>
            <a:pPr indent="-228600" lvl="0" marL="228600" rtl="0" algn="l">
              <a:lnSpc>
                <a:spcPct val="140000"/>
              </a:lnSpc>
              <a:spcBef>
                <a:spcPts val="1200"/>
              </a:spcBef>
              <a:spcAft>
                <a:spcPts val="0"/>
              </a:spcAft>
              <a:buClr>
                <a:srgbClr val="16324F"/>
              </a:buClr>
              <a:buSzPts val="2000"/>
              <a:buFont typeface="Arial"/>
              <a:buChar char="•"/>
            </a:pPr>
            <a:r>
              <a:rPr b="1" lang="en" sz="2000">
                <a:solidFill>
                  <a:schemeClr val="dk1"/>
                </a:solidFill>
                <a:latin typeface="Arial"/>
                <a:ea typeface="Arial"/>
                <a:cs typeface="Arial"/>
                <a:sym typeface="Arial"/>
              </a:rPr>
              <a:t>Delay in materials</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Try to order materials ahead of time with sufficient lead times for the bed build.</a:t>
            </a:r>
            <a:endParaRPr/>
          </a:p>
          <a:p>
            <a:pPr indent="-228600" lvl="0" marL="228600" rtl="0" algn="l">
              <a:lnSpc>
                <a:spcPct val="140000"/>
              </a:lnSpc>
              <a:spcBef>
                <a:spcPts val="1200"/>
              </a:spcBef>
              <a:spcAft>
                <a:spcPts val="0"/>
              </a:spcAft>
              <a:buClr>
                <a:srgbClr val="16324F"/>
              </a:buClr>
              <a:buSzPts val="2000"/>
              <a:buFont typeface="Arial"/>
              <a:buChar char="•"/>
            </a:pPr>
            <a:r>
              <a:rPr b="1" lang="en" sz="2000">
                <a:solidFill>
                  <a:schemeClr val="dk1"/>
                </a:solidFill>
                <a:latin typeface="Arial"/>
                <a:ea typeface="Arial"/>
                <a:cs typeface="Arial"/>
                <a:sym typeface="Arial"/>
              </a:rPr>
              <a:t>Unable to fundraise the 40 beds</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Aim to complete fundraising a few weeks before the bed build, so we can figure out alternative solutions. If not on track, we will inform sponsor of the number short of our goal.</a:t>
            </a:r>
            <a:endParaRPr/>
          </a:p>
        </p:txBody>
      </p:sp>
      <p:cxnSp>
        <p:nvCxnSpPr>
          <p:cNvPr id="221" name="Google Shape;221;p20"/>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
        <p:nvSpPr>
          <p:cNvPr id="222" name="Google Shape;222;p20"/>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324F"/>
              </a:buClr>
              <a:buSzPts val="2400"/>
              <a:buFont typeface="Arial"/>
              <a:buNone/>
            </a:pPr>
            <a:r>
              <a:rPr b="1" i="0" lang="en" sz="2400" u="none" cap="none" strike="noStrike">
                <a:solidFill>
                  <a:srgbClr val="16324F"/>
                </a:solidFill>
                <a:latin typeface="Arial"/>
                <a:ea typeface="Arial"/>
                <a:cs typeface="Arial"/>
                <a:sym typeface="Arial"/>
              </a:rPr>
              <a:t>Mitigation Efforts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idx="1" type="body"/>
          </p:nvPr>
        </p:nvSpPr>
        <p:spPr>
          <a:xfrm>
            <a:off x="457200" y="787400"/>
            <a:ext cx="8229600" cy="4027500"/>
          </a:xfrm>
          <a:prstGeom prst="rect">
            <a:avLst/>
          </a:prstGeom>
          <a:noFill/>
          <a:ln>
            <a:noFill/>
          </a:ln>
        </p:spPr>
        <p:txBody>
          <a:bodyPr anchorCtr="0" anchor="t" bIns="45700" lIns="91425" spcFirstLastPara="1" rIns="91425" wrap="square" tIns="45700">
            <a:spAutoFit/>
          </a:bodyPr>
          <a:lstStyle/>
          <a:p>
            <a:pPr indent="-228600" lvl="0" marL="228600" rtl="0" algn="l">
              <a:lnSpc>
                <a:spcPct val="140000"/>
              </a:lnSpc>
              <a:spcBef>
                <a:spcPts val="200"/>
              </a:spcBef>
              <a:spcAft>
                <a:spcPts val="0"/>
              </a:spcAft>
              <a:buClr>
                <a:srgbClr val="16324F"/>
              </a:buClr>
              <a:buSzPts val="2000"/>
              <a:buFont typeface="Arial"/>
              <a:buChar char="•"/>
            </a:pPr>
            <a:r>
              <a:rPr b="1" lang="en" sz="2000">
                <a:solidFill>
                  <a:schemeClr val="dk1"/>
                </a:solidFill>
                <a:latin typeface="Arial"/>
                <a:ea typeface="Arial"/>
                <a:cs typeface="Arial"/>
                <a:sym typeface="Arial"/>
              </a:rPr>
              <a:t>Weather make beds unable to be built outside</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Sponsor has arranged for an indoor building site</a:t>
            </a:r>
            <a:endParaRPr/>
          </a:p>
          <a:p>
            <a:pPr indent="-228600" lvl="0" marL="228600" rtl="0" algn="l">
              <a:lnSpc>
                <a:spcPct val="140000"/>
              </a:lnSpc>
              <a:spcBef>
                <a:spcPts val="1000"/>
              </a:spcBef>
              <a:spcAft>
                <a:spcPts val="0"/>
              </a:spcAft>
              <a:buClr>
                <a:srgbClr val="16324F"/>
              </a:buClr>
              <a:buSzPts val="2000"/>
              <a:buFont typeface="Arial"/>
              <a:buChar char="•"/>
            </a:pPr>
            <a:r>
              <a:rPr b="1" lang="en" sz="2000">
                <a:solidFill>
                  <a:schemeClr val="dk1"/>
                </a:solidFill>
                <a:latin typeface="Arial"/>
                <a:ea typeface="Arial"/>
                <a:cs typeface="Arial"/>
                <a:sym typeface="Arial"/>
              </a:rPr>
              <a:t>Delays in bedding shipment</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Cancel shipments and use money to pick up bedding in stores such as Target</a:t>
            </a:r>
            <a:endParaRPr/>
          </a:p>
          <a:p>
            <a:pPr indent="-228600" lvl="0" marL="228600" rtl="0" algn="l">
              <a:lnSpc>
                <a:spcPct val="140000"/>
              </a:lnSpc>
              <a:spcBef>
                <a:spcPts val="1000"/>
              </a:spcBef>
              <a:spcAft>
                <a:spcPts val="0"/>
              </a:spcAft>
              <a:buClr>
                <a:srgbClr val="16324F"/>
              </a:buClr>
              <a:buSzPts val="2000"/>
              <a:buFont typeface="Arial"/>
              <a:buChar char="•"/>
            </a:pPr>
            <a:r>
              <a:rPr b="1" lang="en" sz="2000">
                <a:solidFill>
                  <a:schemeClr val="dk1"/>
                </a:solidFill>
                <a:latin typeface="Arial"/>
                <a:ea typeface="Arial"/>
                <a:cs typeface="Arial"/>
                <a:sym typeface="Arial"/>
              </a:rPr>
              <a:t>Not enough volunteers</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Reach out to friends and classmates to see who would be willing to volunteer</a:t>
            </a:r>
            <a:endParaRPr/>
          </a:p>
          <a:p>
            <a:pPr indent="-228600" lvl="0" marL="228600" rtl="0" algn="l">
              <a:lnSpc>
                <a:spcPct val="140000"/>
              </a:lnSpc>
              <a:spcBef>
                <a:spcPts val="1000"/>
              </a:spcBef>
              <a:spcAft>
                <a:spcPts val="0"/>
              </a:spcAft>
              <a:buClr>
                <a:srgbClr val="16324F"/>
              </a:buClr>
              <a:buSzPts val="2000"/>
              <a:buFont typeface="Arial"/>
              <a:buChar char="•"/>
            </a:pPr>
            <a:r>
              <a:rPr b="1" lang="en" sz="2000">
                <a:solidFill>
                  <a:schemeClr val="dk1"/>
                </a:solidFill>
                <a:latin typeface="Arial"/>
                <a:ea typeface="Arial"/>
                <a:cs typeface="Arial"/>
                <a:sym typeface="Arial"/>
              </a:rPr>
              <a:t>Unable to fundraise bed-in-a-bags</a:t>
            </a:r>
            <a:endParaRPr/>
          </a:p>
          <a:p>
            <a:pPr indent="-228600" lvl="1" marL="457200" rtl="0" algn="l">
              <a:lnSpc>
                <a:spcPct val="150000"/>
              </a:lnSpc>
              <a:spcBef>
                <a:spcPts val="200"/>
              </a:spcBef>
              <a:spcAft>
                <a:spcPts val="0"/>
              </a:spcAft>
              <a:buClr>
                <a:srgbClr val="78909C"/>
              </a:buClr>
              <a:buSzPts val="1600"/>
              <a:buFont typeface="Arial"/>
              <a:buChar char="–"/>
            </a:pPr>
            <a:r>
              <a:rPr lang="en" sz="1600">
                <a:solidFill>
                  <a:srgbClr val="333333"/>
                </a:solidFill>
                <a:latin typeface="Arial"/>
                <a:ea typeface="Arial"/>
                <a:cs typeface="Arial"/>
                <a:sym typeface="Arial"/>
              </a:rPr>
              <a:t>Inform sponsor far ahead of time if we are not on track to complete the goal, he might be able to use his donations to compensate</a:t>
            </a:r>
            <a:endParaRPr/>
          </a:p>
        </p:txBody>
      </p:sp>
      <p:sp>
        <p:nvSpPr>
          <p:cNvPr id="228" name="Google Shape;228;p21"/>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324F"/>
              </a:buClr>
              <a:buSzPts val="2400"/>
              <a:buFont typeface="Arial"/>
              <a:buNone/>
            </a:pPr>
            <a:r>
              <a:rPr b="1" i="0" lang="en" sz="2400" u="none" cap="none" strike="noStrike">
                <a:solidFill>
                  <a:srgbClr val="16324F"/>
                </a:solidFill>
                <a:latin typeface="Arial"/>
                <a:ea typeface="Arial"/>
                <a:cs typeface="Arial"/>
                <a:sym typeface="Arial"/>
              </a:rPr>
              <a:t>Contingency Plans</a:t>
            </a:r>
            <a:endParaRPr b="0" i="0" sz="2400" u="none" cap="none" strike="noStrike">
              <a:solidFill>
                <a:schemeClr val="dk1"/>
              </a:solidFill>
              <a:latin typeface="Arial"/>
              <a:ea typeface="Arial"/>
              <a:cs typeface="Arial"/>
              <a:sym typeface="Arial"/>
            </a:endParaRPr>
          </a:p>
        </p:txBody>
      </p:sp>
      <p:cxnSp>
        <p:nvCxnSpPr>
          <p:cNvPr id="229" name="Google Shape;229;p21"/>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2" title="Screenshot 2026-03-29 at 11.57.04 PM.png"/>
          <p:cNvPicPr preferRelativeResize="0"/>
          <p:nvPr/>
        </p:nvPicPr>
        <p:blipFill rotWithShape="1">
          <a:blip r:embed="rId3">
            <a:alphaModFix/>
          </a:blip>
          <a:srcRect b="2676" l="1896" r="8224" t="0"/>
          <a:stretch/>
        </p:blipFill>
        <p:spPr>
          <a:xfrm>
            <a:off x="2614725" y="721000"/>
            <a:ext cx="3623550" cy="4103500"/>
          </a:xfrm>
          <a:prstGeom prst="rect">
            <a:avLst/>
          </a:prstGeom>
          <a:noFill/>
          <a:ln>
            <a:noFill/>
          </a:ln>
        </p:spPr>
      </p:pic>
      <p:sp>
        <p:nvSpPr>
          <p:cNvPr id="235" name="Google Shape;235;p22"/>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Scope Statement</a:t>
            </a:r>
            <a:endParaRPr sz="2400">
              <a:solidFill>
                <a:schemeClr val="dk1"/>
              </a:solidFill>
              <a:latin typeface="Arial"/>
              <a:ea typeface="Arial"/>
              <a:cs typeface="Arial"/>
              <a:sym typeface="Arial"/>
            </a:endParaRPr>
          </a:p>
        </p:txBody>
      </p:sp>
      <p:cxnSp>
        <p:nvCxnSpPr>
          <p:cNvPr id="236" name="Google Shape;236;p22"/>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3" title="Screenshot 2026-03-29 at 11.52.56 PM.png"/>
          <p:cNvPicPr preferRelativeResize="0"/>
          <p:nvPr/>
        </p:nvPicPr>
        <p:blipFill>
          <a:blip r:embed="rId3">
            <a:alphaModFix/>
          </a:blip>
          <a:stretch>
            <a:fillRect/>
          </a:stretch>
        </p:blipFill>
        <p:spPr>
          <a:xfrm>
            <a:off x="1128475" y="922250"/>
            <a:ext cx="6648751" cy="3963001"/>
          </a:xfrm>
          <a:prstGeom prst="rect">
            <a:avLst/>
          </a:prstGeom>
          <a:noFill/>
          <a:ln>
            <a:noFill/>
          </a:ln>
        </p:spPr>
      </p:pic>
      <p:cxnSp>
        <p:nvCxnSpPr>
          <p:cNvPr id="242" name="Google Shape;242;p23"/>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
        <p:nvSpPr>
          <p:cNvPr id="243" name="Google Shape;243;p23"/>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Draft Schedule</a:t>
            </a:r>
            <a:endParaRPr sz="24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24" title="Screenshot 2026-03-30 at 12.02.08 AM.png"/>
          <p:cNvPicPr preferRelativeResize="0"/>
          <p:nvPr/>
        </p:nvPicPr>
        <p:blipFill>
          <a:blip r:embed="rId3">
            <a:alphaModFix/>
          </a:blip>
          <a:stretch>
            <a:fillRect/>
          </a:stretch>
        </p:blipFill>
        <p:spPr>
          <a:xfrm>
            <a:off x="2528225" y="801450"/>
            <a:ext cx="3492500" cy="3947574"/>
          </a:xfrm>
          <a:prstGeom prst="rect">
            <a:avLst/>
          </a:prstGeom>
          <a:noFill/>
          <a:ln>
            <a:noFill/>
          </a:ln>
        </p:spPr>
      </p:pic>
      <p:sp>
        <p:nvSpPr>
          <p:cNvPr id="249" name="Google Shape;249;p24"/>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Project Charter</a:t>
            </a:r>
            <a:endParaRPr sz="2400">
              <a:solidFill>
                <a:schemeClr val="dk1"/>
              </a:solidFill>
              <a:latin typeface="Arial"/>
              <a:ea typeface="Arial"/>
              <a:cs typeface="Arial"/>
              <a:sym typeface="Arial"/>
            </a:endParaRPr>
          </a:p>
        </p:txBody>
      </p:sp>
      <p:cxnSp>
        <p:nvCxnSpPr>
          <p:cNvPr id="250" name="Google Shape;250;p24"/>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25" title="Screenshot 2026-03-30 at 12.03.42 AM.png"/>
          <p:cNvPicPr preferRelativeResize="0"/>
          <p:nvPr/>
        </p:nvPicPr>
        <p:blipFill>
          <a:blip r:embed="rId3">
            <a:alphaModFix/>
          </a:blip>
          <a:stretch>
            <a:fillRect/>
          </a:stretch>
        </p:blipFill>
        <p:spPr>
          <a:xfrm>
            <a:off x="1626250" y="970825"/>
            <a:ext cx="4656674" cy="3843550"/>
          </a:xfrm>
          <a:prstGeom prst="rect">
            <a:avLst/>
          </a:prstGeom>
          <a:noFill/>
          <a:ln>
            <a:noFill/>
          </a:ln>
        </p:spPr>
      </p:pic>
      <p:cxnSp>
        <p:nvCxnSpPr>
          <p:cNvPr id="256" name="Google Shape;256;p25"/>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
        <p:nvSpPr>
          <p:cNvPr id="257" name="Google Shape;257;p25"/>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Communication Management Plan</a:t>
            </a:r>
            <a:endParaRPr sz="24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6"/>
          <p:cNvSpPr txBox="1"/>
          <p:nvPr>
            <p:ph idx="1" type="body"/>
          </p:nvPr>
        </p:nvSpPr>
        <p:spPr>
          <a:xfrm>
            <a:off x="504400" y="1060837"/>
            <a:ext cx="3999900" cy="3853800"/>
          </a:xfrm>
          <a:prstGeom prst="rect">
            <a:avLst/>
          </a:prstGeom>
        </p:spPr>
        <p:txBody>
          <a:bodyPr anchorCtr="0" anchor="t" bIns="91425" lIns="91425" spcFirstLastPara="1" rIns="91425" wrap="square" tIns="91425">
            <a:normAutofit fontScale="85000" lnSpcReduction="20000"/>
          </a:bodyPr>
          <a:lstStyle/>
          <a:p>
            <a:pPr indent="-336550" lvl="0" marL="457200" rtl="0" algn="l">
              <a:spcBef>
                <a:spcPts val="0"/>
              </a:spcBef>
              <a:spcAft>
                <a:spcPts val="0"/>
              </a:spcAft>
              <a:buClr>
                <a:schemeClr val="dk1"/>
              </a:buClr>
              <a:buSzPct val="100000"/>
              <a:buChar char="●"/>
            </a:pPr>
            <a:r>
              <a:rPr lang="en" sz="2000">
                <a:solidFill>
                  <a:schemeClr val="dk1"/>
                </a:solidFill>
              </a:rPr>
              <a:t>Complete fundraising</a:t>
            </a:r>
            <a:endParaRPr sz="2000">
              <a:solidFill>
                <a:schemeClr val="dk1"/>
              </a:solidFill>
            </a:endParaRPr>
          </a:p>
          <a:p>
            <a:pPr indent="-309563" lvl="1" marL="914400" rtl="0" algn="l">
              <a:spcBef>
                <a:spcPts val="0"/>
              </a:spcBef>
              <a:spcAft>
                <a:spcPts val="0"/>
              </a:spcAft>
              <a:buSzPct val="100000"/>
              <a:buChar char="○"/>
            </a:pPr>
            <a:r>
              <a:rPr lang="en" sz="1500"/>
              <a:t>We need to finish fundraising the rest of the bedding </a:t>
            </a:r>
            <a:r>
              <a:rPr lang="en" sz="1500"/>
              <a:t>before</a:t>
            </a:r>
            <a:r>
              <a:rPr lang="en" sz="1500"/>
              <a:t> our bed build date, April 25th</a:t>
            </a:r>
            <a:endParaRPr sz="1500"/>
          </a:p>
          <a:p>
            <a:pPr indent="-336550" lvl="0" marL="457200" rtl="0" algn="l">
              <a:spcBef>
                <a:spcPts val="0"/>
              </a:spcBef>
              <a:spcAft>
                <a:spcPts val="0"/>
              </a:spcAft>
              <a:buClr>
                <a:schemeClr val="dk1"/>
              </a:buClr>
              <a:buSzPct val="100000"/>
              <a:buChar char="●"/>
            </a:pPr>
            <a:r>
              <a:rPr lang="en" sz="2000">
                <a:solidFill>
                  <a:schemeClr val="dk1"/>
                </a:solidFill>
              </a:rPr>
              <a:t>Schedule bed deliveries</a:t>
            </a:r>
            <a:endParaRPr sz="2000">
              <a:solidFill>
                <a:schemeClr val="dk1"/>
              </a:solidFill>
            </a:endParaRPr>
          </a:p>
          <a:p>
            <a:pPr indent="-309563" lvl="1" marL="914400" rtl="0" algn="l">
              <a:spcBef>
                <a:spcPts val="0"/>
              </a:spcBef>
              <a:spcAft>
                <a:spcPts val="0"/>
              </a:spcAft>
              <a:buSzPct val="100000"/>
              <a:buChar char="○"/>
            </a:pPr>
            <a:r>
              <a:rPr lang="en" sz="1500"/>
              <a:t>We are working with Mr. Mele to schedule a bed delivery hopefully for this week or next</a:t>
            </a:r>
            <a:endParaRPr sz="1500"/>
          </a:p>
          <a:p>
            <a:pPr indent="-336550" lvl="0" marL="457200" rtl="0" algn="l">
              <a:spcBef>
                <a:spcPts val="0"/>
              </a:spcBef>
              <a:spcAft>
                <a:spcPts val="0"/>
              </a:spcAft>
              <a:buClr>
                <a:schemeClr val="dk1"/>
              </a:buClr>
              <a:buSzPct val="100000"/>
              <a:buChar char="●"/>
            </a:pPr>
            <a:r>
              <a:rPr lang="en" sz="2000">
                <a:solidFill>
                  <a:schemeClr val="dk1"/>
                </a:solidFill>
              </a:rPr>
              <a:t>Attending a bed build April 10th</a:t>
            </a:r>
            <a:endParaRPr sz="2000">
              <a:solidFill>
                <a:schemeClr val="dk1"/>
              </a:solidFill>
            </a:endParaRPr>
          </a:p>
          <a:p>
            <a:pPr indent="-309563" lvl="1" marL="914400" rtl="0" algn="l">
              <a:spcBef>
                <a:spcPts val="0"/>
              </a:spcBef>
              <a:spcAft>
                <a:spcPts val="0"/>
              </a:spcAft>
              <a:buSzPct val="100000"/>
              <a:buChar char="○"/>
            </a:pPr>
            <a:r>
              <a:rPr lang="en" sz="1500"/>
              <a:t>We are going to help prepare for the bed build our group will be helping with later that month</a:t>
            </a:r>
            <a:endParaRPr sz="1500"/>
          </a:p>
          <a:p>
            <a:pPr indent="-336550" lvl="0" marL="457200" rtl="0" algn="l">
              <a:spcBef>
                <a:spcPts val="0"/>
              </a:spcBef>
              <a:spcAft>
                <a:spcPts val="0"/>
              </a:spcAft>
              <a:buClr>
                <a:schemeClr val="dk1"/>
              </a:buClr>
              <a:buSzPct val="100000"/>
              <a:buChar char="●"/>
            </a:pPr>
            <a:r>
              <a:rPr lang="en" sz="2000">
                <a:solidFill>
                  <a:schemeClr val="dk1"/>
                </a:solidFill>
              </a:rPr>
              <a:t>Our end goal, the April 25th bed build</a:t>
            </a:r>
            <a:endParaRPr sz="2000">
              <a:solidFill>
                <a:schemeClr val="dk1"/>
              </a:solidFill>
            </a:endParaRPr>
          </a:p>
          <a:p>
            <a:pPr indent="-309563" lvl="1" marL="914400" rtl="0" algn="l">
              <a:spcBef>
                <a:spcPts val="0"/>
              </a:spcBef>
              <a:spcAft>
                <a:spcPts val="0"/>
              </a:spcAft>
              <a:buSzPct val="100000"/>
              <a:buChar char="○"/>
            </a:pPr>
            <a:r>
              <a:rPr lang="en" sz="1500"/>
              <a:t>On April 25th, we will be delivering our fundraised bed-in-a-bags and assisting in a bed build</a:t>
            </a:r>
            <a:endParaRPr sz="1500"/>
          </a:p>
        </p:txBody>
      </p:sp>
      <p:cxnSp>
        <p:nvCxnSpPr>
          <p:cNvPr id="263" name="Google Shape;263;p26"/>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
        <p:nvSpPr>
          <p:cNvPr id="264" name="Google Shape;264;p26"/>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Next Steps</a:t>
            </a:r>
            <a:endParaRPr sz="2400">
              <a:solidFill>
                <a:schemeClr val="dk1"/>
              </a:solidFill>
              <a:latin typeface="Arial"/>
              <a:ea typeface="Arial"/>
              <a:cs typeface="Arial"/>
              <a:sym typeface="Arial"/>
            </a:endParaRPr>
          </a:p>
        </p:txBody>
      </p:sp>
      <p:pic>
        <p:nvPicPr>
          <p:cNvPr id="265" name="Google Shape;265;p26"/>
          <p:cNvPicPr preferRelativeResize="0"/>
          <p:nvPr/>
        </p:nvPicPr>
        <p:blipFill>
          <a:blip r:embed="rId3">
            <a:alphaModFix/>
          </a:blip>
          <a:stretch>
            <a:fillRect/>
          </a:stretch>
        </p:blipFill>
        <p:spPr>
          <a:xfrm>
            <a:off x="5258252" y="1057322"/>
            <a:ext cx="2895602" cy="3860813"/>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txBox="1"/>
          <p:nvPr>
            <p:ph idx="1" type="body"/>
          </p:nvPr>
        </p:nvSpPr>
        <p:spPr>
          <a:xfrm>
            <a:off x="311700" y="111572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a:solidFill>
                  <a:schemeClr val="dk1"/>
                </a:solidFill>
              </a:rPr>
              <a:t>Local Community Donations</a:t>
            </a:r>
            <a:endParaRPr>
              <a:solidFill>
                <a:schemeClr val="dk1"/>
              </a:solidFill>
            </a:endParaRPr>
          </a:p>
          <a:p>
            <a:pPr indent="-304800" lvl="1" marL="914400" rtl="0" algn="l">
              <a:spcBef>
                <a:spcPts val="0"/>
              </a:spcBef>
              <a:spcAft>
                <a:spcPts val="0"/>
              </a:spcAft>
              <a:buSzPts val="1200"/>
              <a:buChar char="○"/>
            </a:pPr>
            <a:r>
              <a:rPr lang="en"/>
              <a:t>Our group has began going to local businesses, churches, and organizations </a:t>
            </a:r>
            <a:r>
              <a:rPr lang="en"/>
              <a:t>in the Blacksburg-Christiansburg area.</a:t>
            </a:r>
            <a:endParaRPr/>
          </a:p>
          <a:p>
            <a:pPr indent="-317500" lvl="0" marL="457200" rtl="0" algn="l">
              <a:spcBef>
                <a:spcPts val="0"/>
              </a:spcBef>
              <a:spcAft>
                <a:spcPts val="0"/>
              </a:spcAft>
              <a:buClr>
                <a:srgbClr val="111111"/>
              </a:buClr>
              <a:buSzPts val="1400"/>
              <a:buChar char="●"/>
            </a:pPr>
            <a:r>
              <a:rPr lang="en">
                <a:solidFill>
                  <a:srgbClr val="111111"/>
                </a:solidFill>
              </a:rPr>
              <a:t>Business Sponsorship</a:t>
            </a:r>
            <a:endParaRPr>
              <a:solidFill>
                <a:srgbClr val="111111"/>
              </a:solidFill>
            </a:endParaRPr>
          </a:p>
          <a:p>
            <a:pPr indent="-304800" lvl="1" marL="914400" rtl="0" algn="l">
              <a:spcBef>
                <a:spcPts val="0"/>
              </a:spcBef>
              <a:spcAft>
                <a:spcPts val="0"/>
              </a:spcAft>
              <a:buSzPts val="1200"/>
              <a:buChar char="○"/>
            </a:pPr>
            <a:r>
              <a:rPr lang="en"/>
              <a:t>Working with suitable sponsors for SHP such as Lowes, Mattress Warehouse, Grand Home Furnishings, etc</a:t>
            </a:r>
            <a:endParaRPr/>
          </a:p>
          <a:p>
            <a:pPr indent="-317500" lvl="0" marL="457200" rtl="0" algn="l">
              <a:spcBef>
                <a:spcPts val="0"/>
              </a:spcBef>
              <a:spcAft>
                <a:spcPts val="0"/>
              </a:spcAft>
              <a:buClr>
                <a:schemeClr val="dk1"/>
              </a:buClr>
              <a:buSzPts val="1400"/>
              <a:buChar char="●"/>
            </a:pPr>
            <a:r>
              <a:rPr lang="en">
                <a:solidFill>
                  <a:schemeClr val="dk1"/>
                </a:solidFill>
              </a:rPr>
              <a:t>Setting up a Percentage Night</a:t>
            </a:r>
            <a:endParaRPr>
              <a:solidFill>
                <a:schemeClr val="dk1"/>
              </a:solidFill>
            </a:endParaRPr>
          </a:p>
          <a:p>
            <a:pPr indent="-304800" lvl="1" marL="914400" rtl="0" algn="l">
              <a:spcBef>
                <a:spcPts val="0"/>
              </a:spcBef>
              <a:spcAft>
                <a:spcPts val="0"/>
              </a:spcAft>
              <a:buSzPts val="1200"/>
              <a:buChar char="○"/>
            </a:pPr>
            <a:r>
              <a:rPr lang="en"/>
              <a:t>Using a percentage night with a local, non-chain restaurant to gain donations to raise the last sets of beds-in-a-bag</a:t>
            </a:r>
            <a:endParaRPr/>
          </a:p>
        </p:txBody>
      </p:sp>
      <p:cxnSp>
        <p:nvCxnSpPr>
          <p:cNvPr id="271" name="Google Shape;271;p27"/>
          <p:cNvCxnSpPr/>
          <p:nvPr/>
        </p:nvCxnSpPr>
        <p:spPr>
          <a:xfrm>
            <a:off x="311700" y="617375"/>
            <a:ext cx="8229600" cy="0"/>
          </a:xfrm>
          <a:prstGeom prst="straightConnector1">
            <a:avLst/>
          </a:prstGeom>
          <a:noFill/>
          <a:ln cap="flat" cmpd="sng" w="12700">
            <a:solidFill>
              <a:srgbClr val="4B79C9"/>
            </a:solidFill>
            <a:prstDash val="solid"/>
            <a:round/>
            <a:headEnd len="sm" w="sm" type="none"/>
            <a:tailEnd len="sm" w="sm" type="none"/>
          </a:ln>
        </p:spPr>
      </p:cxnSp>
      <p:sp>
        <p:nvSpPr>
          <p:cNvPr id="272" name="Google Shape;272;p27"/>
          <p:cNvSpPr/>
          <p:nvPr/>
        </p:nvSpPr>
        <p:spPr>
          <a:xfrm>
            <a:off x="311700" y="248075"/>
            <a:ext cx="5334000" cy="36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24F"/>
              </a:buClr>
              <a:buSzPts val="2400"/>
              <a:buFont typeface="Arial"/>
              <a:buNone/>
            </a:pPr>
            <a:r>
              <a:rPr b="1" lang="en" sz="2400">
                <a:solidFill>
                  <a:srgbClr val="16324F"/>
                </a:solidFill>
              </a:rPr>
              <a:t>How we plan to raise 20 more beds</a:t>
            </a:r>
            <a:endParaRPr sz="2400">
              <a:solidFill>
                <a:schemeClr val="dk1"/>
              </a:solidFill>
              <a:latin typeface="Arial"/>
              <a:ea typeface="Arial"/>
              <a:cs typeface="Arial"/>
              <a:sym typeface="Arial"/>
            </a:endParaRPr>
          </a:p>
        </p:txBody>
      </p:sp>
      <p:pic>
        <p:nvPicPr>
          <p:cNvPr id="273" name="Google Shape;273;p27"/>
          <p:cNvPicPr preferRelativeResize="0"/>
          <p:nvPr/>
        </p:nvPicPr>
        <p:blipFill>
          <a:blip r:embed="rId3">
            <a:alphaModFix/>
          </a:blip>
          <a:stretch>
            <a:fillRect/>
          </a:stretch>
        </p:blipFill>
        <p:spPr>
          <a:xfrm>
            <a:off x="4924800" y="1078975"/>
            <a:ext cx="3489900" cy="348990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solidFill>
                  <a:srgbClr val="16324F"/>
                </a:solidFill>
              </a:rPr>
              <a:t>Questions?</a:t>
            </a:r>
            <a:endParaRPr sz="5000">
              <a:solidFill>
                <a:srgbClr val="16324F"/>
              </a:solidFill>
            </a:endParaRPr>
          </a:p>
        </p:txBody>
      </p:sp>
      <p:cxnSp>
        <p:nvCxnSpPr>
          <p:cNvPr id="279" name="Google Shape;279;p28"/>
          <p:cNvCxnSpPr/>
          <p:nvPr/>
        </p:nvCxnSpPr>
        <p:spPr>
          <a:xfrm>
            <a:off x="457200" y="2992650"/>
            <a:ext cx="8229600" cy="0"/>
          </a:xfrm>
          <a:prstGeom prst="straightConnector1">
            <a:avLst/>
          </a:prstGeom>
          <a:noFill/>
          <a:ln cap="flat" cmpd="sng" w="12700">
            <a:solidFill>
              <a:srgbClr val="4B79C9"/>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